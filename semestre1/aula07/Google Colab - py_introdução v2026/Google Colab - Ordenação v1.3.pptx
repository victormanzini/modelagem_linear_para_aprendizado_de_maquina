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162" cy="511175"/>
          </a:xfrm>
          <a:prstGeom prst="rect">
            <a:avLst/>
          </a:prstGeom>
          <a:noFill/>
          <a:ln>
            <a:noFill/>
          </a:ln>
        </p:spPr>
        <p:txBody>
          <a:bodyPr anchorCtr="0" anchor="t" bIns="49525" lIns="99075" spcFirstLastPara="1" rIns="99075" wrap="square" tIns="495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4024312" y="0"/>
            <a:ext cx="3078162" cy="511175"/>
          </a:xfrm>
          <a:prstGeom prst="rect">
            <a:avLst/>
          </a:prstGeom>
          <a:noFill/>
          <a:ln>
            <a:noFill/>
          </a:ln>
        </p:spPr>
        <p:txBody>
          <a:bodyPr anchorCtr="0" anchor="t" bIns="49525" lIns="99075" spcFirstLastPara="1" rIns="99075" wrap="square" tIns="495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11200" y="4860925"/>
            <a:ext cx="5681662" cy="4605337"/>
          </a:xfrm>
          <a:prstGeom prst="rect">
            <a:avLst/>
          </a:prstGeom>
          <a:noFill/>
          <a:ln>
            <a:noFill/>
          </a:ln>
        </p:spPr>
        <p:txBody>
          <a:bodyPr anchorCtr="0" anchor="t" bIns="49525" lIns="99075" spcFirstLastPara="1" rIns="99075" wrap="square" tIns="495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721850"/>
            <a:ext cx="3078162" cy="511175"/>
          </a:xfrm>
          <a:prstGeom prst="rect">
            <a:avLst/>
          </a:prstGeom>
          <a:noFill/>
          <a:ln>
            <a:noFill/>
          </a:ln>
        </p:spPr>
        <p:txBody>
          <a:bodyPr anchorCtr="0" anchor="b" bIns="49525" lIns="99075" spcFirstLastPara="1" rIns="99075" wrap="square" tIns="495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024312" y="9721850"/>
            <a:ext cx="3078162" cy="511175"/>
          </a:xfrm>
          <a:prstGeom prst="rect">
            <a:avLst/>
          </a:prstGeom>
          <a:noFill/>
          <a:ln>
            <a:noFill/>
          </a:ln>
        </p:spPr>
        <p:txBody>
          <a:bodyPr anchorCtr="0" anchor="b" bIns="49525" lIns="99075" spcFirstLastPara="1" rIns="99075" wrap="square" tIns="495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68" name="Google Shape;168;p7: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711200" y="4860925"/>
            <a:ext cx="5681662" cy="4605337"/>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97" name="Google Shape;197;p9:notes"/>
          <p:cNvSpPr/>
          <p:nvPr>
            <p:ph idx="2" type="sldImg"/>
          </p:nvPr>
        </p:nvSpPr>
        <p:spPr>
          <a:xfrm>
            <a:off x="995362" y="768350"/>
            <a:ext cx="5113337"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26" name="Shape 26"/>
        <p:cNvGrpSpPr/>
        <p:nvPr/>
      </p:nvGrpSpPr>
      <p:grpSpPr>
        <a:xfrm>
          <a:off x="0" y="0"/>
          <a:ext cx="0" cy="0"/>
          <a:chOff x="0" y="0"/>
          <a:chExt cx="0" cy="0"/>
        </a:xfrm>
      </p:grpSpPr>
      <p:sp>
        <p:nvSpPr>
          <p:cNvPr id="27" name="Google Shape;27;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30" name="Shape 30"/>
        <p:cNvGrpSpPr/>
        <p:nvPr/>
      </p:nvGrpSpPr>
      <p:grpSpPr>
        <a:xfrm>
          <a:off x="0" y="0"/>
          <a:ext cx="0" cy="0"/>
          <a:chOff x="0" y="0"/>
          <a:chExt cx="0" cy="0"/>
        </a:xfrm>
      </p:grpSpPr>
      <p:sp>
        <p:nvSpPr>
          <p:cNvPr id="31" name="Google Shape;31;p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p:nvPr>
            <p:ph idx="2" type="pic"/>
          </p:nvPr>
        </p:nvSpPr>
        <p:spPr>
          <a:xfrm>
            <a:off x="1792288" y="612775"/>
            <a:ext cx="5486400" cy="4114800"/>
          </a:xfrm>
          <a:prstGeom prst="rect">
            <a:avLst/>
          </a:prstGeom>
          <a:noFill/>
          <a:ln>
            <a:noFill/>
          </a:ln>
        </p:spPr>
      </p:sp>
      <p:sp>
        <p:nvSpPr>
          <p:cNvPr id="45" name="Google Shape;45;p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6" name="Google Shape;46;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49" name="Shape 49"/>
        <p:cNvGrpSpPr/>
        <p:nvPr/>
      </p:nvGrpSpPr>
      <p:grpSpPr>
        <a:xfrm>
          <a:off x="0" y="0"/>
          <a:ext cx="0" cy="0"/>
          <a:chOff x="0" y="0"/>
          <a:chExt cx="0" cy="0"/>
        </a:xfrm>
      </p:grpSpPr>
      <p:sp>
        <p:nvSpPr>
          <p:cNvPr id="50" name="Google Shape;50;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2" name="Google Shape;52;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3" name="Google Shape;53;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9" name="Google Shape;59;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0" name="Google Shape;60;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1" name="Google Shape;61;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2" name="Google Shape;62;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8" name="Google Shape;68;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9" name="Google Shape;69;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75" name="Google Shape;75;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81" name="Google Shape;81;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logo fiap novo 2" id="88" name="Google Shape;88;p13"/>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89" name="Google Shape;89;p13"/>
          <p:cNvSpPr txBox="1"/>
          <p:nvPr/>
        </p:nvSpPr>
        <p:spPr>
          <a:xfrm>
            <a:off x="315912" y="1654175"/>
            <a:ext cx="8512175" cy="3292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Arial"/>
              <a:buNone/>
            </a:pPr>
            <a:r>
              <a:rPr b="1" i="0" lang="en-US" sz="4000" u="none" cap="none" strike="noStrike">
                <a:solidFill>
                  <a:schemeClr val="dk1"/>
                </a:solidFill>
                <a:latin typeface="Arial"/>
                <a:ea typeface="Arial"/>
                <a:cs typeface="Arial"/>
                <a:sym typeface="Arial"/>
              </a:rPr>
              <a:t>Google Colab</a:t>
            </a:r>
            <a:endParaRPr/>
          </a:p>
          <a:p>
            <a:pPr indent="0" lvl="0" marL="0" marR="0" rtl="0" algn="ctr">
              <a:lnSpc>
                <a:spcPct val="100000"/>
              </a:lnSpc>
              <a:spcBef>
                <a:spcPts val="800"/>
              </a:spcBef>
              <a:spcAft>
                <a:spcPts val="0"/>
              </a:spcAft>
              <a:buClr>
                <a:schemeClr val="dk1"/>
              </a:buClr>
              <a:buSzPts val="4000"/>
              <a:buFont typeface="Arial"/>
              <a:buNone/>
            </a:pPr>
            <a:r>
              <a:rPr b="1" i="0" lang="en-US" sz="4000" u="none" cap="none" strike="noStrike">
                <a:solidFill>
                  <a:schemeClr val="dk1"/>
                </a:solidFill>
                <a:latin typeface="Arial"/>
                <a:ea typeface="Arial"/>
                <a:cs typeface="Arial"/>
                <a:sym typeface="Arial"/>
              </a:rPr>
              <a:t>(Algoritmos de Ordenação)</a:t>
            </a:r>
            <a:endParaRPr/>
          </a:p>
          <a:p>
            <a:pPr indent="0" lvl="0" marL="0" marR="0" rtl="0" algn="just">
              <a:lnSpc>
                <a:spcPct val="100000"/>
              </a:lnSpc>
              <a:spcBef>
                <a:spcPts val="320"/>
              </a:spcBef>
              <a:spcAft>
                <a:spcPts val="0"/>
              </a:spcAft>
              <a:buClr>
                <a:schemeClr val="dk1"/>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INTRODUÇÃO</a:t>
            </a:r>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ORDENAÇÃO POR TROCAS</a:t>
            </a:r>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MÉTODO DA BOLHA</a:t>
            </a:r>
            <a:endParaRPr/>
          </a:p>
        </p:txBody>
      </p:sp>
      <p:sp>
        <p:nvSpPr>
          <p:cNvPr id="90" name="Google Shape;90;p13"/>
          <p:cNvSpPr txBox="1"/>
          <p:nvPr/>
        </p:nvSpPr>
        <p:spPr>
          <a:xfrm>
            <a:off x="317500" y="6264275"/>
            <a:ext cx="8512175" cy="4619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Prof. Sérgio Ricardo Rota           pf0112@fiap.com.br           </a:t>
            </a:r>
            <a:r>
              <a:rPr b="1" i="0" lang="en-US" sz="1800" u="none" cap="none" strike="noStrike">
                <a:solidFill>
                  <a:srgbClr val="FF3300"/>
                </a:solidFill>
                <a:latin typeface="Arial"/>
                <a:ea typeface="Arial"/>
                <a:cs typeface="Arial"/>
                <a:sym typeface="Arial"/>
              </a:rPr>
              <a:t>www.fiap.com.br</a:t>
            </a:r>
            <a:endParaRPr/>
          </a:p>
        </p:txBody>
      </p:sp>
      <p:sp>
        <p:nvSpPr>
          <p:cNvPr id="91" name="Google Shape;91;p13"/>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Aprendizado de Máquina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nvSpPr>
        <p:spPr>
          <a:xfrm>
            <a:off x="315912" y="1447800"/>
            <a:ext cx="8512175" cy="5140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Normalmente, o usuário que vai inserir os dados em um sistema não tem como inserir estes dados em ordem no momento de sua inserção, de modo que é comum encontrarmos elementos desordenados em nossos sistemas.</a:t>
            </a:r>
            <a:endParaRPr/>
          </a:p>
          <a:p>
            <a:pPr indent="0" lvl="0" marL="0" marR="0" rtl="0" algn="just">
              <a:lnSpc>
                <a:spcPct val="100000"/>
              </a:lnSpc>
              <a:spcBef>
                <a:spcPts val="240"/>
              </a:spcBef>
              <a:spcAft>
                <a:spcPts val="0"/>
              </a:spcAft>
              <a:buClr>
                <a:schemeClr val="dk1"/>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Entretanto, muitas vezes, necessitamos que estes dados estejam em ordem para que possamos realizar, de maneira eficiente, determinadas tarefas, como verificar se determinado cliente pagou uma conta ou se uma certa pessoa está em uma lista de convidados.</a:t>
            </a:r>
            <a:endParaRPr/>
          </a:p>
        </p:txBody>
      </p:sp>
      <p:sp>
        <p:nvSpPr>
          <p:cNvPr id="97" name="Google Shape;97;p14"/>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2</a:t>
            </a:r>
            <a:endParaRPr/>
          </a:p>
        </p:txBody>
      </p:sp>
      <p:sp>
        <p:nvSpPr>
          <p:cNvPr id="98" name="Google Shape;98;p14"/>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Introdução</a:t>
            </a:r>
            <a:endParaRPr/>
          </a:p>
        </p:txBody>
      </p:sp>
      <p:pic>
        <p:nvPicPr>
          <p:cNvPr descr="logo fiap novo 2" id="99" name="Google Shape;99;p14"/>
          <p:cNvPicPr preferRelativeResize="0"/>
          <p:nvPr/>
        </p:nvPicPr>
        <p:blipFill rotWithShape="1">
          <a:blip r:embed="rId3">
            <a:alphaModFix/>
          </a:blip>
          <a:srcRect b="0" l="0" r="0" t="0"/>
          <a:stretch/>
        </p:blipFill>
        <p:spPr>
          <a:xfrm>
            <a:off x="0" y="0"/>
            <a:ext cx="1547812" cy="12684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Introdução</a:t>
            </a:r>
            <a:endParaRPr/>
          </a:p>
        </p:txBody>
      </p:sp>
      <p:sp>
        <p:nvSpPr>
          <p:cNvPr id="105" name="Google Shape;105;p15"/>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3</a:t>
            </a:r>
            <a:endParaRPr/>
          </a:p>
        </p:txBody>
      </p:sp>
      <p:pic>
        <p:nvPicPr>
          <p:cNvPr descr="logo fiap novo 2" id="106" name="Google Shape;106;p15"/>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07" name="Google Shape;107;p15"/>
          <p:cNvSpPr txBox="1"/>
          <p:nvPr/>
        </p:nvSpPr>
        <p:spPr>
          <a:xfrm>
            <a:off x="315912" y="1447800"/>
            <a:ext cx="8512175" cy="38465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Devido a estas necessidades, foram desenvolvidos vários algoritmos de ordenação que consistem, basicamente, em realizar comparações sucessivas entre os elementos de uma relação e trocar estes elementos de posição.</a:t>
            </a:r>
            <a:endParaRPr/>
          </a:p>
          <a:p>
            <a:pPr indent="0" lvl="0" marL="0" marR="0" rtl="0" algn="just">
              <a:lnSpc>
                <a:spcPct val="100000"/>
              </a:lnSpc>
              <a:spcBef>
                <a:spcPts val="240"/>
              </a:spcBef>
              <a:spcAft>
                <a:spcPts val="0"/>
              </a:spcAft>
              <a:buClr>
                <a:schemeClr val="dk1"/>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Estes algoritmos constituem-se nos </a:t>
            </a:r>
            <a:r>
              <a:rPr b="1" i="0" lang="en-US" sz="2800" u="sng" cap="none" strike="noStrike">
                <a:solidFill>
                  <a:schemeClr val="accent2"/>
                </a:solidFill>
                <a:latin typeface="Arial"/>
                <a:ea typeface="Arial"/>
                <a:cs typeface="Arial"/>
                <a:sym typeface="Arial"/>
              </a:rPr>
              <a:t>métodos de ordenação básicos</a:t>
            </a:r>
            <a:r>
              <a:rPr b="1" i="0" lang="en-US" sz="2800" u="none" cap="none" strike="noStrike">
                <a:solidFill>
                  <a:schemeClr val="dk1"/>
                </a:solidFill>
                <a:latin typeface="Arial"/>
                <a:ea typeface="Arial"/>
                <a:cs typeface="Arial"/>
                <a:sym typeface="Arial"/>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Ordenação por Trocas</a:t>
            </a:r>
            <a:endParaRPr/>
          </a:p>
        </p:txBody>
      </p:sp>
      <p:sp>
        <p:nvSpPr>
          <p:cNvPr id="113" name="Google Shape;113;p16"/>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4</a:t>
            </a:r>
            <a:endParaRPr/>
          </a:p>
        </p:txBody>
      </p:sp>
      <p:pic>
        <p:nvPicPr>
          <p:cNvPr descr="logo fiap novo 2" id="114" name="Google Shape;114;p16"/>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15" name="Google Shape;115;p16"/>
          <p:cNvSpPr txBox="1"/>
          <p:nvPr/>
        </p:nvSpPr>
        <p:spPr>
          <a:xfrm>
            <a:off x="315912" y="1447800"/>
            <a:ext cx="8512175" cy="52625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O método de </a:t>
            </a:r>
            <a:r>
              <a:rPr b="1" i="0" lang="en-US" sz="2800" u="sng" cap="none" strike="noStrike">
                <a:solidFill>
                  <a:schemeClr val="accent2"/>
                </a:solidFill>
                <a:latin typeface="Arial"/>
                <a:ea typeface="Arial"/>
                <a:cs typeface="Arial"/>
                <a:sym typeface="Arial"/>
              </a:rPr>
              <a:t>ordenação por trocas</a:t>
            </a:r>
            <a:r>
              <a:rPr b="1" i="0" lang="en-US" sz="2800" u="none" cap="none" strike="noStrike">
                <a:solidFill>
                  <a:schemeClr val="dk1"/>
                </a:solidFill>
                <a:latin typeface="Arial"/>
                <a:ea typeface="Arial"/>
                <a:cs typeface="Arial"/>
                <a:sym typeface="Arial"/>
              </a:rPr>
              <a:t>, também chamado de </a:t>
            </a:r>
            <a:r>
              <a:rPr b="1" i="0" lang="en-US" sz="2800" u="sng" cap="none" strike="noStrike">
                <a:solidFill>
                  <a:schemeClr val="accent2"/>
                </a:solidFill>
                <a:latin typeface="Arial"/>
                <a:ea typeface="Arial"/>
                <a:cs typeface="Arial"/>
                <a:sym typeface="Arial"/>
              </a:rPr>
              <a:t>método da bolha</a:t>
            </a:r>
            <a:r>
              <a:rPr b="1" i="0" lang="en-US" sz="2800" u="none" cap="none" strike="noStrike">
                <a:solidFill>
                  <a:schemeClr val="dk1"/>
                </a:solidFill>
                <a:latin typeface="Arial"/>
                <a:ea typeface="Arial"/>
                <a:cs typeface="Arial"/>
                <a:sym typeface="Arial"/>
              </a:rPr>
              <a:t> (</a:t>
            </a:r>
            <a:r>
              <a:rPr b="1" i="1" lang="en-US" sz="2800" u="sng" cap="none" strike="noStrike">
                <a:solidFill>
                  <a:schemeClr val="accent2"/>
                </a:solidFill>
                <a:latin typeface="Arial"/>
                <a:ea typeface="Arial"/>
                <a:cs typeface="Arial"/>
                <a:sym typeface="Arial"/>
              </a:rPr>
              <a:t>bubble sort</a:t>
            </a:r>
            <a:r>
              <a:rPr b="1" i="0" lang="en-US" sz="2800" u="none" cap="none" strike="noStrike">
                <a:solidFill>
                  <a:schemeClr val="dk1"/>
                </a:solidFill>
                <a:latin typeface="Arial"/>
                <a:ea typeface="Arial"/>
                <a:cs typeface="Arial"/>
                <a:sym typeface="Arial"/>
              </a:rPr>
              <a:t>), é considerado o mais simples de todos. Ele consiste em comparar pares consecutivos de valores e permutá-los, caso estejam fora de ordem. O algoritmo determina uma série de comparações sistemáticas que varrem a sequência de dados como um todo, fazendo com que o maior valor (ou o menor, de acordo com a ordem desejada) acabe no final da sequência e uma nova série de comparações sistemáticas se inicie.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Ordenação por Trocas</a:t>
            </a:r>
            <a:endParaRPr/>
          </a:p>
        </p:txBody>
      </p:sp>
      <p:sp>
        <p:nvSpPr>
          <p:cNvPr id="121" name="Google Shape;121;p17"/>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5</a:t>
            </a:r>
            <a:endParaRPr/>
          </a:p>
        </p:txBody>
      </p:sp>
      <p:pic>
        <p:nvPicPr>
          <p:cNvPr descr="logo fiap novo 2" id="122" name="Google Shape;122;p17"/>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23" name="Google Shape;123;p17"/>
          <p:cNvSpPr txBox="1"/>
          <p:nvPr/>
        </p:nvSpPr>
        <p:spPr>
          <a:xfrm>
            <a:off x="315912" y="6119812"/>
            <a:ext cx="8512175"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Representação da ordenação pelo método da bolha.</a:t>
            </a:r>
            <a:endParaRPr/>
          </a:p>
        </p:txBody>
      </p:sp>
      <p:cxnSp>
        <p:nvCxnSpPr>
          <p:cNvPr id="124" name="Google Shape;124;p17"/>
          <p:cNvCxnSpPr/>
          <p:nvPr/>
        </p:nvCxnSpPr>
        <p:spPr>
          <a:xfrm>
            <a:off x="1403350" y="1738312"/>
            <a:ext cx="107950" cy="0"/>
          </a:xfrm>
          <a:prstGeom prst="straightConnector1">
            <a:avLst/>
          </a:prstGeom>
          <a:noFill/>
          <a:ln cap="flat" cmpd="sng" w="28575">
            <a:solidFill>
              <a:schemeClr val="lt1"/>
            </a:solidFill>
            <a:prstDash val="solid"/>
            <a:miter lim="800000"/>
            <a:headEnd len="med" w="med" type="none"/>
            <a:tailEnd len="med" w="med" type="none"/>
          </a:ln>
        </p:spPr>
      </p:cxnSp>
      <p:cxnSp>
        <p:nvCxnSpPr>
          <p:cNvPr id="125" name="Google Shape;125;p17"/>
          <p:cNvCxnSpPr/>
          <p:nvPr/>
        </p:nvCxnSpPr>
        <p:spPr>
          <a:xfrm>
            <a:off x="6191250" y="1738312"/>
            <a:ext cx="109537" cy="0"/>
          </a:xfrm>
          <a:prstGeom prst="straightConnector1">
            <a:avLst/>
          </a:prstGeom>
          <a:noFill/>
          <a:ln cap="flat" cmpd="sng" w="28575">
            <a:solidFill>
              <a:schemeClr val="lt1"/>
            </a:solidFill>
            <a:prstDash val="solid"/>
            <a:miter lim="800000"/>
            <a:headEnd len="med" w="med" type="none"/>
            <a:tailEnd len="med" w="med" type="none"/>
          </a:ln>
        </p:spPr>
      </p:cxnSp>
      <p:pic>
        <p:nvPicPr>
          <p:cNvPr id="126" name="Google Shape;126;p17"/>
          <p:cNvPicPr preferRelativeResize="0"/>
          <p:nvPr/>
        </p:nvPicPr>
        <p:blipFill rotWithShape="1">
          <a:blip r:embed="rId4">
            <a:alphaModFix/>
          </a:blip>
          <a:srcRect b="0" l="0" r="0" t="0"/>
          <a:stretch/>
        </p:blipFill>
        <p:spPr>
          <a:xfrm>
            <a:off x="0" y="1403350"/>
            <a:ext cx="9144000" cy="4029075"/>
          </a:xfrm>
          <a:prstGeom prst="rect">
            <a:avLst/>
          </a:prstGeom>
          <a:noFill/>
          <a:ln>
            <a:noFill/>
          </a:ln>
        </p:spPr>
      </p:pic>
      <p:cxnSp>
        <p:nvCxnSpPr>
          <p:cNvPr id="127" name="Google Shape;127;p17"/>
          <p:cNvCxnSpPr/>
          <p:nvPr/>
        </p:nvCxnSpPr>
        <p:spPr>
          <a:xfrm>
            <a:off x="3805237" y="4899025"/>
            <a:ext cx="792162" cy="0"/>
          </a:xfrm>
          <a:prstGeom prst="straightConnector1">
            <a:avLst/>
          </a:prstGeom>
          <a:noFill/>
          <a:ln cap="flat" cmpd="sng" w="38100">
            <a:solidFill>
              <a:schemeClr val="dk1"/>
            </a:solidFill>
            <a:prstDash val="solid"/>
            <a:miter lim="800000"/>
            <a:headEnd len="med" w="med" type="none"/>
            <a:tailEnd len="med" w="med" type="none"/>
          </a:ln>
        </p:spPr>
      </p:cxnSp>
      <p:grpSp>
        <p:nvGrpSpPr>
          <p:cNvPr id="128" name="Google Shape;128;p17"/>
          <p:cNvGrpSpPr/>
          <p:nvPr/>
        </p:nvGrpSpPr>
        <p:grpSpPr>
          <a:xfrm>
            <a:off x="774700" y="2592387"/>
            <a:ext cx="790575" cy="434975"/>
            <a:chOff x="774000" y="2592000"/>
            <a:chExt cx="792000" cy="435600"/>
          </a:xfrm>
        </p:grpSpPr>
        <p:cxnSp>
          <p:nvCxnSpPr>
            <p:cNvPr id="129" name="Google Shape;129;p17"/>
            <p:cNvCxnSpPr/>
            <p:nvPr/>
          </p:nvCxnSpPr>
          <p:spPr>
            <a:xfrm>
              <a:off x="793084" y="2592000"/>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30" name="Google Shape;130;p17"/>
            <p:cNvCxnSpPr/>
            <p:nvPr/>
          </p:nvCxnSpPr>
          <p:spPr>
            <a:xfrm>
              <a:off x="1554868" y="2592000"/>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31" name="Google Shape;131;p17"/>
            <p:cNvCxnSpPr/>
            <p:nvPr/>
          </p:nvCxnSpPr>
          <p:spPr>
            <a:xfrm>
              <a:off x="774000" y="3026010"/>
              <a:ext cx="792000" cy="0"/>
            </a:xfrm>
            <a:prstGeom prst="straightConnector1">
              <a:avLst/>
            </a:prstGeom>
            <a:noFill/>
            <a:ln cap="flat" cmpd="sng" w="38100">
              <a:solidFill>
                <a:schemeClr val="dk1"/>
              </a:solidFill>
              <a:prstDash val="solid"/>
              <a:miter lim="800000"/>
              <a:headEnd len="med" w="med" type="none"/>
              <a:tailEnd len="med" w="med" type="none"/>
            </a:ln>
          </p:spPr>
        </p:cxnSp>
      </p:grpSp>
      <p:grpSp>
        <p:nvGrpSpPr>
          <p:cNvPr id="132" name="Google Shape;132;p17"/>
          <p:cNvGrpSpPr/>
          <p:nvPr/>
        </p:nvGrpSpPr>
        <p:grpSpPr>
          <a:xfrm>
            <a:off x="3041650" y="3995737"/>
            <a:ext cx="792162" cy="436562"/>
            <a:chOff x="776784" y="6211164"/>
            <a:chExt cx="792000" cy="435600"/>
          </a:xfrm>
        </p:grpSpPr>
        <p:cxnSp>
          <p:nvCxnSpPr>
            <p:cNvPr id="133" name="Google Shape;133;p17"/>
            <p:cNvCxnSpPr/>
            <p:nvPr/>
          </p:nvCxnSpPr>
          <p:spPr>
            <a:xfrm>
              <a:off x="795830" y="6211164"/>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34" name="Google Shape;134;p17"/>
            <p:cNvCxnSpPr/>
            <p:nvPr/>
          </p:nvCxnSpPr>
          <p:spPr>
            <a:xfrm>
              <a:off x="1557673" y="6211164"/>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35" name="Google Shape;135;p17"/>
            <p:cNvCxnSpPr/>
            <p:nvPr/>
          </p:nvCxnSpPr>
          <p:spPr>
            <a:xfrm>
              <a:off x="776784" y="6645180"/>
              <a:ext cx="792000" cy="0"/>
            </a:xfrm>
            <a:prstGeom prst="straightConnector1">
              <a:avLst/>
            </a:prstGeom>
            <a:noFill/>
            <a:ln cap="flat" cmpd="sng" w="38100">
              <a:solidFill>
                <a:schemeClr val="dk1"/>
              </a:solidFill>
              <a:prstDash val="solid"/>
              <a:miter lim="800000"/>
              <a:headEnd len="med" w="med" type="none"/>
              <a:tailEnd len="med" w="med" type="none"/>
            </a:ln>
          </p:spPr>
        </p:cxnSp>
      </p:grpSp>
      <p:grpSp>
        <p:nvGrpSpPr>
          <p:cNvPr id="136" name="Google Shape;136;p17"/>
          <p:cNvGrpSpPr/>
          <p:nvPr/>
        </p:nvGrpSpPr>
        <p:grpSpPr>
          <a:xfrm>
            <a:off x="2286000" y="3527425"/>
            <a:ext cx="792162" cy="436562"/>
            <a:chOff x="776784" y="6211164"/>
            <a:chExt cx="792000" cy="435600"/>
          </a:xfrm>
        </p:grpSpPr>
        <p:cxnSp>
          <p:nvCxnSpPr>
            <p:cNvPr id="137" name="Google Shape;137;p17"/>
            <p:cNvCxnSpPr/>
            <p:nvPr/>
          </p:nvCxnSpPr>
          <p:spPr>
            <a:xfrm>
              <a:off x="795830" y="6211164"/>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38" name="Google Shape;138;p17"/>
            <p:cNvCxnSpPr/>
            <p:nvPr/>
          </p:nvCxnSpPr>
          <p:spPr>
            <a:xfrm>
              <a:off x="1557673" y="6211164"/>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39" name="Google Shape;139;p17"/>
            <p:cNvCxnSpPr/>
            <p:nvPr/>
          </p:nvCxnSpPr>
          <p:spPr>
            <a:xfrm>
              <a:off x="776784" y="6645180"/>
              <a:ext cx="792000" cy="0"/>
            </a:xfrm>
            <a:prstGeom prst="straightConnector1">
              <a:avLst/>
            </a:prstGeom>
            <a:noFill/>
            <a:ln cap="flat" cmpd="sng" w="38100">
              <a:solidFill>
                <a:schemeClr val="dk1"/>
              </a:solidFill>
              <a:prstDash val="solid"/>
              <a:miter lim="800000"/>
              <a:headEnd len="med" w="med" type="none"/>
              <a:tailEnd len="med" w="med" type="none"/>
            </a:ln>
          </p:spPr>
        </p:cxnSp>
      </p:grpSp>
      <p:grpSp>
        <p:nvGrpSpPr>
          <p:cNvPr id="140" name="Google Shape;140;p17"/>
          <p:cNvGrpSpPr/>
          <p:nvPr/>
        </p:nvGrpSpPr>
        <p:grpSpPr>
          <a:xfrm>
            <a:off x="1530350" y="3060700"/>
            <a:ext cx="792162" cy="434975"/>
            <a:chOff x="1537200" y="3060000"/>
            <a:chExt cx="792000" cy="435600"/>
          </a:xfrm>
        </p:grpSpPr>
        <p:cxnSp>
          <p:nvCxnSpPr>
            <p:cNvPr id="141" name="Google Shape;141;p17"/>
            <p:cNvCxnSpPr/>
            <p:nvPr/>
          </p:nvCxnSpPr>
          <p:spPr>
            <a:xfrm>
              <a:off x="1549897" y="3060000"/>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42" name="Google Shape;142;p17"/>
            <p:cNvCxnSpPr/>
            <p:nvPr/>
          </p:nvCxnSpPr>
          <p:spPr>
            <a:xfrm>
              <a:off x="2311741" y="3060000"/>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43" name="Google Shape;143;p17"/>
            <p:cNvCxnSpPr/>
            <p:nvPr/>
          </p:nvCxnSpPr>
          <p:spPr>
            <a:xfrm>
              <a:off x="1537200" y="3494011"/>
              <a:ext cx="792000" cy="0"/>
            </a:xfrm>
            <a:prstGeom prst="straightConnector1">
              <a:avLst/>
            </a:prstGeom>
            <a:noFill/>
            <a:ln cap="flat" cmpd="sng" w="38100">
              <a:solidFill>
                <a:schemeClr val="dk1"/>
              </a:solidFill>
              <a:prstDash val="solid"/>
              <a:miter lim="800000"/>
              <a:headEnd len="med" w="med" type="none"/>
              <a:tailEnd len="med" w="med" type="none"/>
            </a:ln>
          </p:spPr>
        </p:cxnSp>
      </p:grpSp>
      <p:grpSp>
        <p:nvGrpSpPr>
          <p:cNvPr id="144" name="Google Shape;144;p17"/>
          <p:cNvGrpSpPr/>
          <p:nvPr/>
        </p:nvGrpSpPr>
        <p:grpSpPr>
          <a:xfrm>
            <a:off x="4554537" y="4932362"/>
            <a:ext cx="792162" cy="434975"/>
            <a:chOff x="4554000" y="4932000"/>
            <a:chExt cx="792000" cy="435600"/>
          </a:xfrm>
        </p:grpSpPr>
        <p:cxnSp>
          <p:nvCxnSpPr>
            <p:cNvPr id="145" name="Google Shape;145;p17"/>
            <p:cNvCxnSpPr/>
            <p:nvPr/>
          </p:nvCxnSpPr>
          <p:spPr>
            <a:xfrm>
              <a:off x="4573046" y="4932000"/>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46" name="Google Shape;146;p17"/>
            <p:cNvCxnSpPr/>
            <p:nvPr/>
          </p:nvCxnSpPr>
          <p:spPr>
            <a:xfrm>
              <a:off x="5334890" y="4932000"/>
              <a:ext cx="0" cy="435600"/>
            </a:xfrm>
            <a:prstGeom prst="straightConnector1">
              <a:avLst/>
            </a:prstGeom>
            <a:noFill/>
            <a:ln cap="flat" cmpd="sng" w="38100">
              <a:solidFill>
                <a:schemeClr val="dk1"/>
              </a:solidFill>
              <a:prstDash val="solid"/>
              <a:miter lim="800000"/>
              <a:headEnd len="med" w="med" type="triangle"/>
              <a:tailEnd len="med" w="med" type="none"/>
            </a:ln>
          </p:spPr>
        </p:cxnSp>
        <p:cxnSp>
          <p:nvCxnSpPr>
            <p:cNvPr id="147" name="Google Shape;147;p17"/>
            <p:cNvCxnSpPr/>
            <p:nvPr/>
          </p:nvCxnSpPr>
          <p:spPr>
            <a:xfrm>
              <a:off x="4554000" y="5366010"/>
              <a:ext cx="792000" cy="0"/>
            </a:xfrm>
            <a:prstGeom prst="straightConnector1">
              <a:avLst/>
            </a:prstGeom>
            <a:noFill/>
            <a:ln cap="flat" cmpd="sng" w="38100">
              <a:solidFill>
                <a:schemeClr val="dk1"/>
              </a:solidFill>
              <a:prstDash val="solid"/>
              <a:miter lim="800000"/>
              <a:headEnd len="med" w="med" type="none"/>
              <a:tailEnd len="med" w="med" type="none"/>
            </a:ln>
          </p:spPr>
        </p:cxnSp>
      </p:grpSp>
      <p:cxnSp>
        <p:nvCxnSpPr>
          <p:cNvPr id="148" name="Google Shape;148;p17"/>
          <p:cNvCxnSpPr/>
          <p:nvPr/>
        </p:nvCxnSpPr>
        <p:spPr>
          <a:xfrm>
            <a:off x="774700" y="1692275"/>
            <a:ext cx="0" cy="557212"/>
          </a:xfrm>
          <a:prstGeom prst="straightConnector1">
            <a:avLst/>
          </a:prstGeom>
          <a:noFill/>
          <a:ln cap="flat" cmpd="sng" w="38100">
            <a:solidFill>
              <a:schemeClr val="dk1"/>
            </a:solidFill>
            <a:prstDash val="solid"/>
            <a:miter lim="800000"/>
            <a:headEnd len="med" w="med" type="none"/>
            <a:tailEnd len="med" w="med" type="triangle"/>
          </a:ln>
        </p:spPr>
      </p:cxnSp>
      <p:cxnSp>
        <p:nvCxnSpPr>
          <p:cNvPr id="149" name="Google Shape;149;p17"/>
          <p:cNvCxnSpPr/>
          <p:nvPr/>
        </p:nvCxnSpPr>
        <p:spPr>
          <a:xfrm>
            <a:off x="4554537" y="1692275"/>
            <a:ext cx="0" cy="557212"/>
          </a:xfrm>
          <a:prstGeom prst="straightConnector1">
            <a:avLst/>
          </a:prstGeom>
          <a:noFill/>
          <a:ln cap="flat" cmpd="sng" w="38100">
            <a:solidFill>
              <a:schemeClr val="dk1"/>
            </a:solidFill>
            <a:prstDash val="solid"/>
            <a:miter lim="800000"/>
            <a:headEnd len="med" w="med" type="none"/>
            <a:tailEnd len="med" w="med" type="triangle"/>
          </a:ln>
        </p:spPr>
      </p:cxnSp>
      <p:cxnSp>
        <p:nvCxnSpPr>
          <p:cNvPr id="150" name="Google Shape;150;p17"/>
          <p:cNvCxnSpPr/>
          <p:nvPr/>
        </p:nvCxnSpPr>
        <p:spPr>
          <a:xfrm>
            <a:off x="755650" y="1692275"/>
            <a:ext cx="3808412" cy="0"/>
          </a:xfrm>
          <a:prstGeom prst="straightConnector1">
            <a:avLst/>
          </a:prstGeom>
          <a:noFill/>
          <a:ln cap="flat" cmpd="sng" w="38100">
            <a:solidFill>
              <a:schemeClr val="dk1"/>
            </a:solidFill>
            <a:prstDash val="solid"/>
            <a:miter lim="800000"/>
            <a:headEnd len="med" w="med" type="none"/>
            <a:tailEnd len="med" w="med" type="none"/>
          </a:ln>
        </p:spPr>
      </p:cxnSp>
      <p:cxnSp>
        <p:nvCxnSpPr>
          <p:cNvPr id="151" name="Google Shape;151;p17"/>
          <p:cNvCxnSpPr/>
          <p:nvPr/>
        </p:nvCxnSpPr>
        <p:spPr>
          <a:xfrm>
            <a:off x="5327650" y="2592387"/>
            <a:ext cx="0" cy="647700"/>
          </a:xfrm>
          <a:prstGeom prst="straightConnector1">
            <a:avLst/>
          </a:prstGeom>
          <a:noFill/>
          <a:ln cap="flat" cmpd="sng" w="38100">
            <a:solidFill>
              <a:schemeClr val="dk1"/>
            </a:solidFill>
            <a:prstDash val="solid"/>
            <a:miter lim="800000"/>
            <a:headEnd len="med" w="med" type="triangle"/>
            <a:tailEnd len="med" w="med" type="none"/>
          </a:ln>
        </p:spPr>
      </p:cxnSp>
      <p:cxnSp>
        <p:nvCxnSpPr>
          <p:cNvPr id="152" name="Google Shape;152;p17"/>
          <p:cNvCxnSpPr/>
          <p:nvPr/>
        </p:nvCxnSpPr>
        <p:spPr>
          <a:xfrm>
            <a:off x="6062662" y="1692275"/>
            <a:ext cx="0" cy="557212"/>
          </a:xfrm>
          <a:prstGeom prst="straightConnector1">
            <a:avLst/>
          </a:prstGeom>
          <a:noFill/>
          <a:ln cap="flat" cmpd="sng" w="38100">
            <a:solidFill>
              <a:schemeClr val="dk1"/>
            </a:solidFill>
            <a:prstDash val="solid"/>
            <a:miter lim="800000"/>
            <a:headEnd len="med" w="med" type="none"/>
            <a:tailEnd len="med" w="med" type="triangle"/>
          </a:ln>
        </p:spPr>
      </p:cxnSp>
      <p:cxnSp>
        <p:nvCxnSpPr>
          <p:cNvPr id="153" name="Google Shape;153;p17"/>
          <p:cNvCxnSpPr/>
          <p:nvPr/>
        </p:nvCxnSpPr>
        <p:spPr>
          <a:xfrm>
            <a:off x="8315325" y="1692275"/>
            <a:ext cx="0" cy="557212"/>
          </a:xfrm>
          <a:prstGeom prst="straightConnector1">
            <a:avLst/>
          </a:prstGeom>
          <a:noFill/>
          <a:ln cap="flat" cmpd="sng" w="38100">
            <a:solidFill>
              <a:schemeClr val="dk1"/>
            </a:solidFill>
            <a:prstDash val="solid"/>
            <a:miter lim="800000"/>
            <a:headEnd len="med" w="med" type="none"/>
            <a:tailEnd len="med" w="med" type="triangle"/>
          </a:ln>
        </p:spPr>
      </p:cxnSp>
      <p:cxnSp>
        <p:nvCxnSpPr>
          <p:cNvPr id="154" name="Google Shape;154;p17"/>
          <p:cNvCxnSpPr/>
          <p:nvPr/>
        </p:nvCxnSpPr>
        <p:spPr>
          <a:xfrm>
            <a:off x="6048375" y="1692275"/>
            <a:ext cx="2286000" cy="0"/>
          </a:xfrm>
          <a:prstGeom prst="straightConnector1">
            <a:avLst/>
          </a:prstGeom>
          <a:noFill/>
          <a:ln cap="flat" cmpd="sng" w="38100">
            <a:solidFill>
              <a:schemeClr val="dk1"/>
            </a:solidFill>
            <a:prstDash val="solid"/>
            <a:miter lim="800000"/>
            <a:headEnd len="med" w="med" type="none"/>
            <a:tailEnd len="med" w="med" type="none"/>
          </a:ln>
        </p:spPr>
      </p:cxnSp>
      <p:cxnSp>
        <p:nvCxnSpPr>
          <p:cNvPr id="155" name="Google Shape;155;p17"/>
          <p:cNvCxnSpPr/>
          <p:nvPr/>
        </p:nvCxnSpPr>
        <p:spPr>
          <a:xfrm>
            <a:off x="3817937" y="4464050"/>
            <a:ext cx="0" cy="434975"/>
          </a:xfrm>
          <a:prstGeom prst="straightConnector1">
            <a:avLst/>
          </a:prstGeom>
          <a:noFill/>
          <a:ln cap="flat" cmpd="sng" w="38100">
            <a:solidFill>
              <a:schemeClr val="dk1"/>
            </a:solidFill>
            <a:prstDash val="solid"/>
            <a:miter lim="800000"/>
            <a:headEnd len="med" w="med" type="triangle"/>
            <a:tailEnd len="med" w="med" type="none"/>
          </a:ln>
        </p:spPr>
      </p:cxnSp>
      <p:cxnSp>
        <p:nvCxnSpPr>
          <p:cNvPr id="156" name="Google Shape;156;p17"/>
          <p:cNvCxnSpPr/>
          <p:nvPr/>
        </p:nvCxnSpPr>
        <p:spPr>
          <a:xfrm>
            <a:off x="4579937" y="4464050"/>
            <a:ext cx="0" cy="434975"/>
          </a:xfrm>
          <a:prstGeom prst="straightConnector1">
            <a:avLst/>
          </a:prstGeom>
          <a:noFill/>
          <a:ln cap="flat" cmpd="sng" w="38100">
            <a:solidFill>
              <a:schemeClr val="dk1"/>
            </a:solidFill>
            <a:prstDash val="solid"/>
            <a:miter lim="800000"/>
            <a:headEnd len="med" w="med" type="triangl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6</a:t>
            </a:r>
            <a:endParaRPr/>
          </a:p>
        </p:txBody>
      </p:sp>
      <p:pic>
        <p:nvPicPr>
          <p:cNvPr descr="logo fiap novo 2" id="162" name="Google Shape;162;p18"/>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63" name="Google Shape;163;p18"/>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Arial"/>
              <a:buNone/>
            </a:pPr>
            <a:r>
              <a:rPr b="1" i="0" lang="en-US" sz="3200" u="none" cap="none" strike="noStrike">
                <a:solidFill>
                  <a:schemeClr val="dk2"/>
                </a:solidFill>
                <a:latin typeface="Arial"/>
                <a:ea typeface="Arial"/>
                <a:cs typeface="Arial"/>
                <a:sym typeface="Arial"/>
              </a:rPr>
              <a:t>Algoritmo de Ordenação por Trocas</a:t>
            </a:r>
            <a:endParaRPr/>
          </a:p>
        </p:txBody>
      </p:sp>
      <p:sp>
        <p:nvSpPr>
          <p:cNvPr id="164" name="Google Shape;164;p18"/>
          <p:cNvSpPr txBox="1"/>
          <p:nvPr/>
        </p:nvSpPr>
        <p:spPr>
          <a:xfrm>
            <a:off x="315912" y="6119812"/>
            <a:ext cx="8512175"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Algoritmo de ordenação por trocas (método da bolha).</a:t>
            </a:r>
            <a:endParaRPr/>
          </a:p>
        </p:txBody>
      </p:sp>
      <p:pic>
        <p:nvPicPr>
          <p:cNvPr id="165" name="Google Shape;165;p18"/>
          <p:cNvPicPr preferRelativeResize="0"/>
          <p:nvPr/>
        </p:nvPicPr>
        <p:blipFill rotWithShape="1">
          <a:blip r:embed="rId4">
            <a:alphaModFix/>
          </a:blip>
          <a:srcRect b="0" l="0" r="0" t="0"/>
          <a:stretch/>
        </p:blipFill>
        <p:spPr>
          <a:xfrm>
            <a:off x="1439862" y="1403350"/>
            <a:ext cx="6264275" cy="4679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9"/>
          <p:cNvPicPr preferRelativeResize="0"/>
          <p:nvPr/>
        </p:nvPicPr>
        <p:blipFill rotWithShape="1">
          <a:blip r:embed="rId3">
            <a:alphaModFix/>
          </a:blip>
          <a:srcRect b="0" l="0" r="0" t="0"/>
          <a:stretch/>
        </p:blipFill>
        <p:spPr>
          <a:xfrm>
            <a:off x="1071562" y="3176587"/>
            <a:ext cx="7000875" cy="504825"/>
          </a:xfrm>
          <a:prstGeom prst="rect">
            <a:avLst/>
          </a:prstGeom>
          <a:noFill/>
          <a:ln>
            <a:noFill/>
          </a:ln>
        </p:spPr>
      </p:pic>
      <p:sp>
        <p:nvSpPr>
          <p:cNvPr id="171" name="Google Shape;171;p19"/>
          <p:cNvSpPr/>
          <p:nvPr/>
        </p:nvSpPr>
        <p:spPr>
          <a:xfrm>
            <a:off x="1547812" y="3708400"/>
            <a:ext cx="900112" cy="539750"/>
          </a:xfrm>
          <a:prstGeom prst="curvedUpArrow">
            <a:avLst>
              <a:gd fmla="val 15124" name="adj1"/>
              <a:gd fmla="val 19981" name="adj2"/>
              <a:gd fmla="val 5400" name="adj3"/>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2" name="Google Shape;172;p19"/>
          <p:cNvSpPr/>
          <p:nvPr/>
        </p:nvSpPr>
        <p:spPr>
          <a:xfrm>
            <a:off x="7812087" y="3708400"/>
            <a:ext cx="900112" cy="539750"/>
          </a:xfrm>
          <a:prstGeom prst="curvedUpArrow">
            <a:avLst>
              <a:gd fmla="val 15124" name="adj1"/>
              <a:gd fmla="val 19981" name="adj2"/>
              <a:gd fmla="val 5400" name="adj3"/>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3" name="Google Shape;173;p19"/>
          <p:cNvSpPr/>
          <p:nvPr/>
        </p:nvSpPr>
        <p:spPr>
          <a:xfrm>
            <a:off x="2592387" y="3708400"/>
            <a:ext cx="900112" cy="539750"/>
          </a:xfrm>
          <a:prstGeom prst="curvedUpArrow">
            <a:avLst>
              <a:gd fmla="val 15124" name="adj1"/>
              <a:gd fmla="val 19981" name="adj2"/>
              <a:gd fmla="val 5400" name="adj3"/>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4" name="Google Shape;174;p19"/>
          <p:cNvSpPr/>
          <p:nvPr/>
        </p:nvSpPr>
        <p:spPr>
          <a:xfrm>
            <a:off x="5724525" y="3708400"/>
            <a:ext cx="900112" cy="539750"/>
          </a:xfrm>
          <a:prstGeom prst="curvedUpArrow">
            <a:avLst>
              <a:gd fmla="val 15124" name="adj1"/>
              <a:gd fmla="val 19981" name="adj2"/>
              <a:gd fmla="val 5400" name="adj3"/>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5" name="Google Shape;175;p19"/>
          <p:cNvSpPr/>
          <p:nvPr/>
        </p:nvSpPr>
        <p:spPr>
          <a:xfrm>
            <a:off x="3635375" y="3708400"/>
            <a:ext cx="900112" cy="539750"/>
          </a:xfrm>
          <a:prstGeom prst="curvedUpArrow">
            <a:avLst>
              <a:gd fmla="val 15124" name="adj1"/>
              <a:gd fmla="val 19981" name="adj2"/>
              <a:gd fmla="val 5400" name="adj3"/>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6" name="Google Shape;176;p19"/>
          <p:cNvSpPr/>
          <p:nvPr/>
        </p:nvSpPr>
        <p:spPr>
          <a:xfrm>
            <a:off x="4679950" y="3708400"/>
            <a:ext cx="900112" cy="539750"/>
          </a:xfrm>
          <a:prstGeom prst="curvedUpArrow">
            <a:avLst>
              <a:gd fmla="val 15124" name="adj1"/>
              <a:gd fmla="val 19981" name="adj2"/>
              <a:gd fmla="val 5400" name="adj3"/>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7" name="Google Shape;177;p19"/>
          <p:cNvSpPr/>
          <p:nvPr/>
        </p:nvSpPr>
        <p:spPr>
          <a:xfrm>
            <a:off x="6767512" y="3708400"/>
            <a:ext cx="900112" cy="539750"/>
          </a:xfrm>
          <a:prstGeom prst="curvedUpArrow">
            <a:avLst>
              <a:gd fmla="val 15124" name="adj1"/>
              <a:gd fmla="val 19981" name="adj2"/>
              <a:gd fmla="val 5400" name="adj3"/>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8" name="Google Shape;178;p19"/>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Ordenação por Trocas</a:t>
            </a:r>
            <a:endParaRPr/>
          </a:p>
        </p:txBody>
      </p:sp>
      <p:sp>
        <p:nvSpPr>
          <p:cNvPr id="179" name="Google Shape;179;p19"/>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7</a:t>
            </a:r>
            <a:endParaRPr/>
          </a:p>
        </p:txBody>
      </p:sp>
      <p:pic>
        <p:nvPicPr>
          <p:cNvPr descr="logo fiap novo 2" id="180" name="Google Shape;180;p19"/>
          <p:cNvPicPr preferRelativeResize="0"/>
          <p:nvPr/>
        </p:nvPicPr>
        <p:blipFill rotWithShape="1">
          <a:blip r:embed="rId4">
            <a:alphaModFix/>
          </a:blip>
          <a:srcRect b="0" l="0" r="0" t="0"/>
          <a:stretch/>
        </p:blipFill>
        <p:spPr>
          <a:xfrm>
            <a:off x="0" y="0"/>
            <a:ext cx="1547812" cy="1268412"/>
          </a:xfrm>
          <a:prstGeom prst="rect">
            <a:avLst/>
          </a:prstGeom>
          <a:noFill/>
          <a:ln>
            <a:noFill/>
          </a:ln>
        </p:spPr>
      </p:pic>
      <p:sp>
        <p:nvSpPr>
          <p:cNvPr id="181" name="Google Shape;181;p19"/>
          <p:cNvSpPr/>
          <p:nvPr/>
        </p:nvSpPr>
        <p:spPr>
          <a:xfrm>
            <a:off x="8243887" y="3186112"/>
            <a:ext cx="647700" cy="468312"/>
          </a:xfrm>
          <a:custGeom>
            <a:rect b="b" l="l" r="r" t="t"/>
            <a:pathLst>
              <a:path extrusionOk="0" h="43200" w="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extrusionOk="0" fill="none" h="43200" w="43200">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accent1"/>
          </a:solidFill>
          <a:ln cap="flat" cmpd="sng" w="254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82" name="Google Shape;182;p19"/>
          <p:cNvPicPr preferRelativeResize="0"/>
          <p:nvPr/>
        </p:nvPicPr>
        <p:blipFill rotWithShape="1">
          <a:blip r:embed="rId5">
            <a:alphaModFix/>
          </a:blip>
          <a:srcRect b="0" l="0" r="0" t="0"/>
          <a:stretch/>
        </p:blipFill>
        <p:spPr>
          <a:xfrm>
            <a:off x="3571875" y="4833937"/>
            <a:ext cx="2000250" cy="1438275"/>
          </a:xfrm>
          <a:prstGeom prst="rect">
            <a:avLst/>
          </a:prstGeom>
          <a:noFill/>
          <a:ln>
            <a:noFill/>
          </a:ln>
        </p:spPr>
      </p:pic>
      <p:cxnSp>
        <p:nvCxnSpPr>
          <p:cNvPr id="183" name="Google Shape;183;p19"/>
          <p:cNvCxnSpPr/>
          <p:nvPr/>
        </p:nvCxnSpPr>
        <p:spPr>
          <a:xfrm>
            <a:off x="4319587" y="5364162"/>
            <a:ext cx="504825" cy="360362"/>
          </a:xfrm>
          <a:prstGeom prst="straightConnector1">
            <a:avLst/>
          </a:prstGeom>
          <a:noFill/>
          <a:ln cap="flat" cmpd="sng" w="38100">
            <a:solidFill>
              <a:schemeClr val="dk2"/>
            </a:solidFill>
            <a:prstDash val="solid"/>
            <a:miter lim="800000"/>
            <a:headEnd len="med" w="med" type="none"/>
            <a:tailEnd len="med" w="med" type="triangle"/>
          </a:ln>
        </p:spPr>
      </p:cxnSp>
      <p:cxnSp>
        <p:nvCxnSpPr>
          <p:cNvPr id="184" name="Google Shape;184;p19"/>
          <p:cNvCxnSpPr/>
          <p:nvPr/>
        </p:nvCxnSpPr>
        <p:spPr>
          <a:xfrm flipH="1">
            <a:off x="4319587" y="5364162"/>
            <a:ext cx="504825" cy="360362"/>
          </a:xfrm>
          <a:prstGeom prst="straightConnector1">
            <a:avLst/>
          </a:prstGeom>
          <a:noFill/>
          <a:ln cap="flat" cmpd="sng" w="38100">
            <a:solidFill>
              <a:schemeClr val="dk2"/>
            </a:solidFill>
            <a:prstDash val="solid"/>
            <a:miter lim="800000"/>
            <a:headEnd len="med" w="med" type="none"/>
            <a:tailEnd len="med" w="med" type="triangle"/>
          </a:ln>
        </p:spPr>
      </p:cxnSp>
      <p:pic>
        <p:nvPicPr>
          <p:cNvPr id="185" name="Google Shape;185;p19"/>
          <p:cNvPicPr preferRelativeResize="0"/>
          <p:nvPr/>
        </p:nvPicPr>
        <p:blipFill rotWithShape="1">
          <a:blip r:embed="rId6">
            <a:alphaModFix/>
          </a:blip>
          <a:srcRect b="0" l="0" r="0" t="0"/>
          <a:stretch/>
        </p:blipFill>
        <p:spPr>
          <a:xfrm>
            <a:off x="3708400" y="1979612"/>
            <a:ext cx="5238750" cy="866775"/>
          </a:xfrm>
          <a:prstGeom prst="rect">
            <a:avLst/>
          </a:prstGeom>
          <a:noFill/>
          <a:ln>
            <a:noFill/>
          </a:ln>
        </p:spPr>
      </p:pic>
      <p:sp>
        <p:nvSpPr>
          <p:cNvPr id="186" name="Google Shape;186;p19"/>
          <p:cNvSpPr txBox="1"/>
          <p:nvPr/>
        </p:nvSpPr>
        <p:spPr>
          <a:xfrm>
            <a:off x="3671887" y="1944687"/>
            <a:ext cx="3527425" cy="32385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Ordenação por Trocas</a:t>
            </a:r>
            <a:endParaRPr/>
          </a:p>
        </p:txBody>
      </p:sp>
      <p:sp>
        <p:nvSpPr>
          <p:cNvPr id="192" name="Google Shape;192;p20"/>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7</a:t>
            </a:r>
            <a:endParaRPr/>
          </a:p>
        </p:txBody>
      </p:sp>
      <p:pic>
        <p:nvPicPr>
          <p:cNvPr descr="logo fiap novo 2" id="193" name="Google Shape;193;p20"/>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94" name="Google Shape;194;p20"/>
          <p:cNvSpPr txBox="1"/>
          <p:nvPr/>
        </p:nvSpPr>
        <p:spPr>
          <a:xfrm>
            <a:off x="315912" y="1447800"/>
            <a:ext cx="8512175" cy="4278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Em cada passagem, um elemento é deslocado para sua posição final, isto é, um elemento é ordenado. Desta forma, uma sequência com </a:t>
            </a:r>
            <a:r>
              <a:rPr b="1" i="1" lang="en-US" sz="2800" u="none">
                <a:solidFill>
                  <a:schemeClr val="dk1"/>
                </a:solidFill>
                <a:latin typeface="Arial"/>
                <a:ea typeface="Arial"/>
                <a:cs typeface="Arial"/>
                <a:sym typeface="Arial"/>
              </a:rPr>
              <a:t>N</a:t>
            </a:r>
            <a:r>
              <a:rPr b="1" i="0" lang="en-US" sz="2800" u="none">
                <a:solidFill>
                  <a:schemeClr val="dk1"/>
                </a:solidFill>
                <a:latin typeface="Arial"/>
                <a:ea typeface="Arial"/>
                <a:cs typeface="Arial"/>
                <a:sym typeface="Arial"/>
              </a:rPr>
              <a:t> elementos terá, após a primeira passagem, um elemento ordenado e </a:t>
            </a:r>
            <a:r>
              <a:rPr b="1" i="1" lang="en-US" sz="2800" u="none">
                <a:solidFill>
                  <a:schemeClr val="dk1"/>
                </a:solidFill>
                <a:latin typeface="Arial"/>
                <a:ea typeface="Arial"/>
                <a:cs typeface="Arial"/>
                <a:sym typeface="Arial"/>
              </a:rPr>
              <a:t>N</a:t>
            </a:r>
            <a:r>
              <a:rPr b="1" i="1" lang="en-US" sz="1200" u="none">
                <a:solidFill>
                  <a:schemeClr val="dk1"/>
                </a:solidFill>
                <a:latin typeface="Arial"/>
                <a:ea typeface="Arial"/>
                <a:cs typeface="Arial"/>
                <a:sym typeface="Arial"/>
              </a:rPr>
              <a:t> </a:t>
            </a:r>
            <a:r>
              <a:rPr b="1" i="1" lang="en-US" sz="2800" u="none">
                <a:solidFill>
                  <a:schemeClr val="dk1"/>
                </a:solidFill>
                <a:latin typeface="Arial"/>
                <a:ea typeface="Arial"/>
                <a:cs typeface="Arial"/>
                <a:sym typeface="Arial"/>
              </a:rPr>
              <a:t>−</a:t>
            </a:r>
            <a:r>
              <a:rPr b="1" i="1" lang="en-US" sz="1200" u="none">
                <a:solidFill>
                  <a:schemeClr val="dk1"/>
                </a:solidFill>
                <a:latin typeface="Arial"/>
                <a:ea typeface="Arial"/>
                <a:cs typeface="Arial"/>
                <a:sym typeface="Arial"/>
              </a:rPr>
              <a:t> </a:t>
            </a:r>
            <a:r>
              <a:rPr b="1" i="1" lang="en-US" sz="2800" u="none">
                <a:solidFill>
                  <a:schemeClr val="dk1"/>
                </a:solidFill>
                <a:latin typeface="Arial"/>
                <a:ea typeface="Arial"/>
                <a:cs typeface="Arial"/>
                <a:sym typeface="Arial"/>
              </a:rPr>
              <a:t>1</a:t>
            </a:r>
            <a:r>
              <a:rPr b="1" i="0" lang="en-US" sz="2800" u="none">
                <a:solidFill>
                  <a:schemeClr val="dk1"/>
                </a:solidFill>
                <a:latin typeface="Arial"/>
                <a:ea typeface="Arial"/>
                <a:cs typeface="Arial"/>
                <a:sym typeface="Arial"/>
              </a:rPr>
              <a:t> elementos para ordenar.</a:t>
            </a:r>
            <a:endParaRPr/>
          </a:p>
          <a:p>
            <a:pPr indent="0" lvl="0" marL="0" marR="0" rtl="0" algn="just">
              <a:lnSpc>
                <a:spcPct val="100000"/>
              </a:lnSpc>
              <a:spcBef>
                <a:spcPts val="240"/>
              </a:spcBef>
              <a:spcAft>
                <a:spcPts val="0"/>
              </a:spcAft>
              <a:buClr>
                <a:schemeClr val="dk1"/>
              </a:buClr>
              <a:buSzPts val="1200"/>
              <a:buFont typeface="Arial"/>
              <a:buNone/>
            </a:pPr>
            <a:r>
              <a:t/>
            </a:r>
            <a:endParaRPr b="1" i="0" sz="1200" u="non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Na segunda passagem, a sequência terá dois elementos ordenados e </a:t>
            </a:r>
            <a:r>
              <a:rPr b="1" i="1" lang="en-US" sz="2800" u="none">
                <a:solidFill>
                  <a:schemeClr val="dk1"/>
                </a:solidFill>
                <a:latin typeface="Arial"/>
                <a:ea typeface="Arial"/>
                <a:cs typeface="Arial"/>
                <a:sym typeface="Arial"/>
              </a:rPr>
              <a:t>N − 2</a:t>
            </a:r>
            <a:r>
              <a:rPr b="1" i="0" lang="en-US" sz="2800" u="none">
                <a:solidFill>
                  <a:schemeClr val="dk1"/>
                </a:solidFill>
                <a:latin typeface="Arial"/>
                <a:ea typeface="Arial"/>
                <a:cs typeface="Arial"/>
                <a:sym typeface="Arial"/>
              </a:rPr>
              <a:t> elementos para ordenar e assim sucessivamente.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8</a:t>
            </a:r>
            <a:endParaRPr/>
          </a:p>
        </p:txBody>
      </p:sp>
      <p:pic>
        <p:nvPicPr>
          <p:cNvPr descr="logo fiap novo 2" id="200" name="Google Shape;200;p21"/>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01" name="Google Shape;201;p21"/>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Algoritmo de Ordenação por Trocas</a:t>
            </a:r>
            <a:endParaRPr/>
          </a:p>
        </p:txBody>
      </p:sp>
      <p:sp>
        <p:nvSpPr>
          <p:cNvPr id="202" name="Google Shape;202;p21"/>
          <p:cNvSpPr txBox="1"/>
          <p:nvPr/>
        </p:nvSpPr>
        <p:spPr>
          <a:xfrm>
            <a:off x="315912" y="5040312"/>
            <a:ext cx="8512175" cy="13223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Apresentação, passo a passo, dos valores ordenados a cada execução do laço, considerando o vetor exemplo [9,1,3,2,7,5,4]. É interessante observar que, neste caso, o algoritmo já concluiu a ordenação no 15º passo.</a:t>
            </a:r>
            <a:endParaRPr/>
          </a:p>
        </p:txBody>
      </p:sp>
      <p:pic>
        <p:nvPicPr>
          <p:cNvPr id="203" name="Google Shape;203;p21"/>
          <p:cNvPicPr preferRelativeResize="0"/>
          <p:nvPr/>
        </p:nvPicPr>
        <p:blipFill rotWithShape="1">
          <a:blip r:embed="rId4">
            <a:alphaModFix/>
          </a:blip>
          <a:srcRect b="0" l="0" r="0" t="0"/>
          <a:stretch/>
        </p:blipFill>
        <p:spPr>
          <a:xfrm>
            <a:off x="238125" y="2147887"/>
            <a:ext cx="8667750" cy="2562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