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89750" cy="96710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6087" cy="484187"/>
          </a:xfrm>
          <a:prstGeom prst="rect">
            <a:avLst/>
          </a:prstGeom>
          <a:noFill/>
          <a:ln>
            <a:noFill/>
          </a:ln>
        </p:spPr>
        <p:txBody>
          <a:bodyPr anchorCtr="0" anchor="t"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902075" y="0"/>
            <a:ext cx="2986087" cy="484187"/>
          </a:xfrm>
          <a:prstGeom prst="rect">
            <a:avLst/>
          </a:prstGeom>
          <a:noFill/>
          <a:ln>
            <a:noFill/>
          </a:ln>
        </p:spPr>
        <p:txBody>
          <a:bodyPr anchorCtr="0" anchor="t"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8975" y="4594225"/>
            <a:ext cx="5511800" cy="4351337"/>
          </a:xfrm>
          <a:prstGeom prst="rect">
            <a:avLst/>
          </a:prstGeom>
          <a:noFill/>
          <a:ln>
            <a:noFill/>
          </a:ln>
        </p:spPr>
        <p:txBody>
          <a:bodyPr anchorCtr="0" anchor="t" bIns="47950" lIns="95925" spcFirstLastPara="1" rIns="95925" wrap="square" tIns="479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185275"/>
            <a:ext cx="2986087" cy="484187"/>
          </a:xfrm>
          <a:prstGeom prst="rect">
            <a:avLst/>
          </a:prstGeom>
          <a:noFill/>
          <a:ln>
            <a:noFill/>
          </a:ln>
        </p:spPr>
        <p:txBody>
          <a:bodyPr anchorCtr="0" anchor="b" bIns="47950" lIns="95925" spcFirstLastPara="1" rIns="95925" wrap="square" tIns="4795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902075" y="9185275"/>
            <a:ext cx="2986087" cy="484187"/>
          </a:xfrm>
          <a:prstGeom prst="rect">
            <a:avLst/>
          </a:prstGeom>
          <a:noFill/>
          <a:ln>
            <a:noFill/>
          </a:ln>
        </p:spPr>
        <p:txBody>
          <a:bodyPr anchorCtr="0" anchor="b" bIns="47950" lIns="95925" spcFirstLastPara="1" rIns="95925" wrap="square" tIns="479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10" name="Google Shape;110;p4: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26" name="Google Shape;126;p6: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7: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34" name="Google Shape;134;p7: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74" name="Google Shape;174;p12: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3: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82" name="Google Shape;182;p13: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7: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14" name="Google Shape;214;p17: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8: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22" name="Google Shape;222;p18: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30" name="Google Shape;230;p19: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2:notes"/>
          <p:cNvSpPr txBox="1"/>
          <p:nvPr>
            <p:ph idx="1" type="body"/>
          </p:nvPr>
        </p:nvSpPr>
        <p:spPr>
          <a:xfrm>
            <a:off x="688975" y="4594225"/>
            <a:ext cx="5511800" cy="4351337"/>
          </a:xfrm>
          <a:prstGeom prst="rect">
            <a:avLst/>
          </a:prstGeom>
        </p:spPr>
        <p:txBody>
          <a:bodyPr anchorCtr="0" anchor="t" bIns="47950" lIns="95925" spcFirstLastPara="1" rIns="95925" wrap="square" tIns="47950">
            <a:noAutofit/>
          </a:bodyPr>
          <a:lstStyle/>
          <a:p>
            <a:pPr indent="0" lvl="0" marL="0" rtl="0" algn="l">
              <a:spcBef>
                <a:spcPts val="0"/>
              </a:spcBef>
              <a:spcAft>
                <a:spcPts val="0"/>
              </a:spcAft>
              <a:buNone/>
            </a:pPr>
            <a:r>
              <a:t/>
            </a:r>
            <a:endParaRPr/>
          </a:p>
        </p:txBody>
      </p:sp>
      <p:sp>
        <p:nvSpPr>
          <p:cNvPr id="254" name="Google Shape;254;p22:notes"/>
          <p:cNvSpPr/>
          <p:nvPr>
            <p:ph idx="2" type="sldImg"/>
          </p:nvPr>
        </p:nvSpPr>
        <p:spPr>
          <a:xfrm>
            <a:off x="1027112" y="725487"/>
            <a:ext cx="4835525" cy="36258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15" name="Shape 15"/>
        <p:cNvGrpSpPr/>
        <p:nvPr/>
      </p:nvGrpSpPr>
      <p:grpSpPr>
        <a:xfrm>
          <a:off x="0" y="0"/>
          <a:ext cx="0" cy="0"/>
          <a:chOff x="0" y="0"/>
          <a:chExt cx="0" cy="0"/>
        </a:xfrm>
      </p:grpSpPr>
      <p:sp>
        <p:nvSpPr>
          <p:cNvPr id="16" name="Google Shape;16;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26" name="Shape 26"/>
        <p:cNvGrpSpPr/>
        <p:nvPr/>
      </p:nvGrpSpPr>
      <p:grpSpPr>
        <a:xfrm>
          <a:off x="0" y="0"/>
          <a:ext cx="0" cy="0"/>
          <a:chOff x="0" y="0"/>
          <a:chExt cx="0" cy="0"/>
        </a:xfrm>
      </p:grpSpPr>
      <p:sp>
        <p:nvSpPr>
          <p:cNvPr id="27" name="Google Shape;27;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0" name="Shape 30"/>
        <p:cNvGrpSpPr/>
        <p:nvPr/>
      </p:nvGrpSpPr>
      <p:grpSpPr>
        <a:xfrm>
          <a:off x="0" y="0"/>
          <a:ext cx="0" cy="0"/>
          <a:chOff x="0" y="0"/>
          <a:chExt cx="0" cy="0"/>
        </a:xfrm>
      </p:grpSpPr>
      <p:sp>
        <p:nvSpPr>
          <p:cNvPr id="31" name="Google Shape;31;p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6"/>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42" name="Shape 42"/>
        <p:cNvGrpSpPr/>
        <p:nvPr/>
      </p:nvGrpSpPr>
      <p:grpSpPr>
        <a:xfrm>
          <a:off x="0" y="0"/>
          <a:ext cx="0" cy="0"/>
          <a:chOff x="0" y="0"/>
          <a:chExt cx="0" cy="0"/>
        </a:xfrm>
      </p:grpSpPr>
      <p:sp>
        <p:nvSpPr>
          <p:cNvPr id="43" name="Google Shape;43;p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7"/>
          <p:cNvSpPr/>
          <p:nvPr>
            <p:ph idx="2" type="pic"/>
          </p:nvPr>
        </p:nvSpPr>
        <p:spPr>
          <a:xfrm>
            <a:off x="1792288" y="612775"/>
            <a:ext cx="5486400" cy="4114800"/>
          </a:xfrm>
          <a:prstGeom prst="rect">
            <a:avLst/>
          </a:prstGeom>
          <a:noFill/>
          <a:ln>
            <a:noFill/>
          </a:ln>
        </p:spPr>
      </p:sp>
      <p:sp>
        <p:nvSpPr>
          <p:cNvPr id="45" name="Google Shape;45;p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46" name="Google Shape;46;p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49" name="Shape 49"/>
        <p:cNvGrpSpPr/>
        <p:nvPr/>
      </p:nvGrpSpPr>
      <p:grpSpPr>
        <a:xfrm>
          <a:off x="0" y="0"/>
          <a:ext cx="0" cy="0"/>
          <a:chOff x="0" y="0"/>
          <a:chExt cx="0" cy="0"/>
        </a:xfrm>
      </p:grpSpPr>
      <p:sp>
        <p:nvSpPr>
          <p:cNvPr id="50" name="Google Shape;50;p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52" name="Google Shape;52;p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3" name="Google Shape;53;p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56" name="Shape 56"/>
        <p:cNvGrpSpPr/>
        <p:nvPr/>
      </p:nvGrpSpPr>
      <p:grpSpPr>
        <a:xfrm>
          <a:off x="0" y="0"/>
          <a:ext cx="0" cy="0"/>
          <a:chOff x="0" y="0"/>
          <a:chExt cx="0" cy="0"/>
        </a:xfrm>
      </p:grpSpPr>
      <p:sp>
        <p:nvSpPr>
          <p:cNvPr id="57" name="Google Shape;57;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9" name="Google Shape;59;p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0" name="Google Shape;60;p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61" name="Google Shape;61;p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62" name="Google Shape;62;p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65" name="Shape 65"/>
        <p:cNvGrpSpPr/>
        <p:nvPr/>
      </p:nvGrpSpPr>
      <p:grpSpPr>
        <a:xfrm>
          <a:off x="0" y="0"/>
          <a:ext cx="0" cy="0"/>
          <a:chOff x="0" y="0"/>
          <a:chExt cx="0" cy="0"/>
        </a:xfrm>
      </p:grpSpPr>
      <p:sp>
        <p:nvSpPr>
          <p:cNvPr id="66" name="Google Shape;66;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8" name="Google Shape;68;p1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69" name="Google Shape;69;p1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72" name="Shape 72"/>
        <p:cNvGrpSpPr/>
        <p:nvPr/>
      </p:nvGrpSpPr>
      <p:grpSpPr>
        <a:xfrm>
          <a:off x="0" y="0"/>
          <a:ext cx="0" cy="0"/>
          <a:chOff x="0" y="0"/>
          <a:chExt cx="0" cy="0"/>
        </a:xfrm>
      </p:grpSpPr>
      <p:sp>
        <p:nvSpPr>
          <p:cNvPr id="73" name="Google Shape;73;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75" name="Google Shape;75;p1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78" name="Shape 78"/>
        <p:cNvGrpSpPr/>
        <p:nvPr/>
      </p:nvGrpSpPr>
      <p:grpSpPr>
        <a:xfrm>
          <a:off x="0" y="0"/>
          <a:ext cx="0" cy="0"/>
          <a:chOff x="0" y="0"/>
          <a:chExt cx="0" cy="0"/>
        </a:xfrm>
      </p:grpSpPr>
      <p:sp>
        <p:nvSpPr>
          <p:cNvPr id="79" name="Google Shape;79;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81" name="Google Shape;81;p1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nvSpPr>
        <p:spPr>
          <a:xfrm>
            <a:off x="1692275" y="18891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rPr b="1" i="0" lang="en-US" sz="3600" u="none" cap="none" strike="noStrike">
                <a:solidFill>
                  <a:schemeClr val="dk1"/>
                </a:solidFill>
                <a:latin typeface="Arial"/>
                <a:ea typeface="Arial"/>
                <a:cs typeface="Arial"/>
                <a:sym typeface="Arial"/>
              </a:rPr>
              <a:t>Aprendizado de Máquina</a:t>
            </a:r>
            <a:endParaRPr/>
          </a:p>
        </p:txBody>
      </p:sp>
      <p:sp>
        <p:nvSpPr>
          <p:cNvPr id="89" name="Google Shape;89;p13"/>
          <p:cNvSpPr txBox="1"/>
          <p:nvPr/>
        </p:nvSpPr>
        <p:spPr>
          <a:xfrm>
            <a:off x="317500" y="6264275"/>
            <a:ext cx="8512175" cy="45878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cap="none" strike="noStrike">
                <a:solidFill>
                  <a:schemeClr val="dk1"/>
                </a:solidFill>
                <a:latin typeface="Arial"/>
                <a:ea typeface="Arial"/>
                <a:cs typeface="Arial"/>
                <a:sym typeface="Arial"/>
              </a:rPr>
              <a:t>Prof. Sérgio Ricardo Rota           pf0112@fiap.com.br           </a:t>
            </a:r>
            <a:r>
              <a:rPr b="1" i="0" lang="en-US" sz="1800" u="none" cap="none" strike="noStrike">
                <a:solidFill>
                  <a:srgbClr val="FF3300"/>
                </a:solidFill>
                <a:latin typeface="Arial"/>
                <a:ea typeface="Arial"/>
                <a:cs typeface="Arial"/>
                <a:sym typeface="Arial"/>
              </a:rPr>
              <a:t>www.fiap.com.br</a:t>
            </a:r>
            <a:endParaRPr/>
          </a:p>
        </p:txBody>
      </p:sp>
      <p:pic>
        <p:nvPicPr>
          <p:cNvPr descr="logo fiap novo 2" id="90" name="Google Shape;90;p1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91" name="Google Shape;91;p13"/>
          <p:cNvSpPr txBox="1"/>
          <p:nvPr/>
        </p:nvSpPr>
        <p:spPr>
          <a:xfrm>
            <a:off x="317500" y="1654175"/>
            <a:ext cx="8513762" cy="30718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000"/>
              <a:buFont typeface="Arial"/>
              <a:buNone/>
            </a:pPr>
            <a:r>
              <a:rPr b="1" i="0" lang="en-US" sz="4000" u="none" cap="none" strike="noStrike">
                <a:solidFill>
                  <a:schemeClr val="dk1"/>
                </a:solidFill>
                <a:latin typeface="Arial"/>
                <a:ea typeface="Arial"/>
                <a:cs typeface="Arial"/>
                <a:sym typeface="Arial"/>
              </a:rPr>
              <a:t>Análise de Dados</a:t>
            </a:r>
            <a:endParaRPr/>
          </a:p>
          <a:p>
            <a:pPr indent="0" lvl="0" marL="0" marR="0" rtl="0" algn="just">
              <a:lnSpc>
                <a:spcPct val="100000"/>
              </a:lnSpc>
              <a:spcBef>
                <a:spcPts val="320"/>
              </a:spcBef>
              <a:spcAft>
                <a:spcPts val="0"/>
              </a:spcAft>
              <a:buClr>
                <a:schemeClr val="dk1"/>
              </a:buClr>
              <a:buSzPts val="1600"/>
              <a:buFont typeface="Arial"/>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INTRODUÇÃO</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CARACTERIZAÇÃO DE DADOS</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TIPOS DE ATRIBUTOS</a:t>
            </a:r>
            <a:endParaRPr/>
          </a:p>
          <a:p>
            <a:pPr indent="0" lvl="0" marL="0" marR="0" rtl="0" algn="l">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ESCALA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nvSpPr>
        <p:spPr>
          <a:xfrm>
            <a:off x="315912" y="1447800"/>
            <a:ext cx="8512175"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 análise das características de um conjunto de dados permite a descoberta de padrões e tendências que podem fornecer informações valiosas para compreender o processo de geração destes dados. Muitas destas características podem ser obtidas por meio da aplicação de fórmulas estatísticas simples. Outras podem ser observadas usando técnicas de visualização.</a:t>
            </a:r>
            <a:endParaRPr/>
          </a:p>
        </p:txBody>
      </p:sp>
      <p:sp>
        <p:nvSpPr>
          <p:cNvPr id="97" name="Google Shape;97;p1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a:t>
            </a:r>
            <a:endParaRPr/>
          </a:p>
        </p:txBody>
      </p:sp>
      <p:sp>
        <p:nvSpPr>
          <p:cNvPr id="98" name="Google Shape;98;p14"/>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Introdução</a:t>
            </a:r>
            <a:endParaRPr/>
          </a:p>
        </p:txBody>
      </p:sp>
      <p:pic>
        <p:nvPicPr>
          <p:cNvPr descr="logo fiap novo 2" id="99" name="Google Shape;99;p14"/>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3</a:t>
            </a:r>
            <a:endParaRPr/>
          </a:p>
        </p:txBody>
      </p:sp>
      <p:sp>
        <p:nvSpPr>
          <p:cNvPr id="105" name="Google Shape;105;p15"/>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Caracterização de Dados</a:t>
            </a:r>
            <a:endParaRPr/>
          </a:p>
        </p:txBody>
      </p:sp>
      <p:pic>
        <p:nvPicPr>
          <p:cNvPr descr="logo fiap novo 2" id="106" name="Google Shape;106;p15"/>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07" name="Google Shape;107;p15"/>
          <p:cNvSpPr txBox="1"/>
          <p:nvPr/>
        </p:nvSpPr>
        <p:spPr>
          <a:xfrm>
            <a:off x="228600" y="1447800"/>
            <a:ext cx="8686800" cy="35400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De maneira formal, um conjunto de dados pode ser representado por uma matriz de objetos </a:t>
            </a:r>
            <a:r>
              <a:rPr b="1" i="0" lang="en-US" sz="2800" u="none" cap="none" strike="noStrike">
                <a:solidFill>
                  <a:schemeClr val="dk1"/>
                </a:solidFill>
                <a:latin typeface="Times New Roman"/>
                <a:ea typeface="Times New Roman"/>
                <a:cs typeface="Times New Roman"/>
                <a:sym typeface="Times New Roman"/>
              </a:rPr>
              <a:t>X</a:t>
            </a:r>
            <a:r>
              <a:rPr b="1" baseline="-25000" i="1" lang="en-US" sz="2800" u="none" cap="none" strike="noStrike">
                <a:solidFill>
                  <a:schemeClr val="dk1"/>
                </a:solidFill>
                <a:latin typeface="Times New Roman"/>
                <a:ea typeface="Times New Roman"/>
                <a:cs typeface="Times New Roman"/>
                <a:sym typeface="Times New Roman"/>
              </a:rPr>
              <a:t>n</a:t>
            </a:r>
            <a:r>
              <a:rPr b="1" i="0" lang="en-US" sz="2800" u="none" cap="none" strike="noStrike">
                <a:solidFill>
                  <a:schemeClr val="dk1"/>
                </a:solidFill>
                <a:latin typeface="Arial"/>
                <a:ea typeface="Arial"/>
                <a:cs typeface="Arial"/>
                <a:sym typeface="Arial"/>
              </a:rPr>
              <a:t> </a:t>
            </a:r>
            <a:r>
              <a:rPr b="1" baseline="-25000" i="0" lang="en-US" sz="2800" u="none" cap="none" strike="noStrike">
                <a:solidFill>
                  <a:schemeClr val="dk1"/>
                </a:solidFill>
                <a:latin typeface="Arial"/>
                <a:ea typeface="Arial"/>
                <a:cs typeface="Arial"/>
                <a:sym typeface="Arial"/>
              </a:rPr>
              <a:t>×</a:t>
            </a:r>
            <a:r>
              <a:rPr b="1" i="0" lang="en-US" sz="2800" u="none" cap="none" strike="noStrike">
                <a:solidFill>
                  <a:schemeClr val="dk1"/>
                </a:solidFill>
                <a:latin typeface="Arial"/>
                <a:ea typeface="Arial"/>
                <a:cs typeface="Arial"/>
                <a:sym typeface="Arial"/>
              </a:rPr>
              <a:t> </a:t>
            </a:r>
            <a:r>
              <a:rPr b="1" baseline="-25000" i="1" lang="en-US" sz="2800" u="none" cap="none" strike="noStrike">
                <a:solidFill>
                  <a:schemeClr val="dk1"/>
                </a:solidFill>
                <a:latin typeface="Times New Roman"/>
                <a:ea typeface="Times New Roman"/>
                <a:cs typeface="Times New Roman"/>
                <a:sym typeface="Times New Roman"/>
              </a:rPr>
              <a:t>d</a:t>
            </a:r>
            <a:r>
              <a:rPr b="1" i="0" lang="en-US" sz="2800" u="none" cap="none" strike="noStrike">
                <a:solidFill>
                  <a:schemeClr val="dk1"/>
                </a:solidFill>
                <a:latin typeface="Arial"/>
                <a:ea typeface="Arial"/>
                <a:cs typeface="Arial"/>
                <a:sym typeface="Arial"/>
              </a:rPr>
              <a:t>, em que </a:t>
            </a:r>
            <a:r>
              <a:rPr b="1" i="1" lang="en-US" sz="2800" u="none" cap="none" strike="noStrike">
                <a:solidFill>
                  <a:schemeClr val="dk1"/>
                </a:solidFill>
                <a:latin typeface="Times New Roman"/>
                <a:ea typeface="Times New Roman"/>
                <a:cs typeface="Times New Roman"/>
                <a:sym typeface="Times New Roman"/>
              </a:rPr>
              <a:t>n</a:t>
            </a:r>
            <a:r>
              <a:rPr b="1" i="0" lang="en-US" sz="2800" u="none" cap="none" strike="noStrike">
                <a:solidFill>
                  <a:schemeClr val="dk1"/>
                </a:solidFill>
                <a:latin typeface="Arial"/>
                <a:ea typeface="Arial"/>
                <a:cs typeface="Arial"/>
                <a:sym typeface="Arial"/>
              </a:rPr>
              <a:t> é o número de objetos e </a:t>
            </a:r>
            <a:r>
              <a:rPr b="1" i="1" lang="en-US" sz="2800" u="none" cap="none" strike="noStrike">
                <a:solidFill>
                  <a:schemeClr val="dk1"/>
                </a:solidFill>
                <a:latin typeface="Times New Roman"/>
                <a:ea typeface="Times New Roman"/>
                <a:cs typeface="Times New Roman"/>
                <a:sym typeface="Times New Roman"/>
              </a:rPr>
              <a:t>d</a:t>
            </a:r>
            <a:r>
              <a:rPr b="1" i="0" lang="en-US" sz="2800" u="none" cap="none" strike="noStrike">
                <a:solidFill>
                  <a:schemeClr val="dk1"/>
                </a:solidFill>
                <a:latin typeface="Arial"/>
                <a:ea typeface="Arial"/>
                <a:cs typeface="Arial"/>
                <a:sym typeface="Arial"/>
              </a:rPr>
              <a:t> é o número de atributos de entrada de cada objeto. O valor de </a:t>
            </a:r>
            <a:r>
              <a:rPr b="1" i="1" lang="en-US" sz="2800" u="none" cap="none" strike="noStrike">
                <a:solidFill>
                  <a:schemeClr val="dk1"/>
                </a:solidFill>
                <a:latin typeface="Times New Roman"/>
                <a:ea typeface="Times New Roman"/>
                <a:cs typeface="Times New Roman"/>
                <a:sym typeface="Times New Roman"/>
              </a:rPr>
              <a:t>d</a:t>
            </a:r>
            <a:r>
              <a:rPr b="1" i="0" lang="en-US" sz="2800" u="none" cap="none" strike="noStrike">
                <a:solidFill>
                  <a:schemeClr val="dk1"/>
                </a:solidFill>
                <a:latin typeface="Arial"/>
                <a:ea typeface="Arial"/>
                <a:cs typeface="Arial"/>
                <a:sym typeface="Arial"/>
              </a:rPr>
              <a:t> define a dimensionalidade dos objetos ou do espaço de objetos (também chamado de espaço de entradas ou espaço de atributos).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6"/>
          <p:cNvSpPr txBox="1"/>
          <p:nvPr/>
        </p:nvSpPr>
        <p:spPr>
          <a:xfrm>
            <a:off x="315912" y="1447800"/>
            <a:ext cx="8512175" cy="38465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Cada elemento desta matriz, </a:t>
            </a:r>
            <a:r>
              <a:rPr b="1" i="0" lang="en-US" sz="2800" u="none" cap="none" strike="noStrike">
                <a:solidFill>
                  <a:schemeClr val="dk1"/>
                </a:solidFill>
                <a:latin typeface="Times New Roman"/>
                <a:ea typeface="Times New Roman"/>
                <a:cs typeface="Times New Roman"/>
                <a:sym typeface="Times New Roman"/>
              </a:rPr>
              <a:t>X</a:t>
            </a:r>
            <a:r>
              <a:rPr b="1" baseline="30000" i="1" lang="en-US" sz="2800" u="none" cap="none" strike="noStrike">
                <a:solidFill>
                  <a:schemeClr val="dk1"/>
                </a:solidFill>
                <a:latin typeface="Times New Roman"/>
                <a:ea typeface="Times New Roman"/>
                <a:cs typeface="Times New Roman"/>
                <a:sym typeface="Times New Roman"/>
              </a:rPr>
              <a:t>j</a:t>
            </a:r>
            <a:r>
              <a:rPr b="1" baseline="-25000" i="1" lang="en-US" sz="2800" u="none" cap="none" strike="noStrike">
                <a:solidFill>
                  <a:schemeClr val="dk1"/>
                </a:solidFill>
                <a:latin typeface="Times New Roman"/>
                <a:ea typeface="Times New Roman"/>
                <a:cs typeface="Times New Roman"/>
                <a:sym typeface="Times New Roman"/>
              </a:rPr>
              <a:t>i</a:t>
            </a:r>
            <a:r>
              <a:rPr b="1" i="0" lang="en-US" sz="2800" u="none" cap="none" strike="noStrike">
                <a:solidFill>
                  <a:schemeClr val="dk1"/>
                </a:solidFill>
                <a:latin typeface="Arial"/>
                <a:ea typeface="Arial"/>
                <a:cs typeface="Arial"/>
                <a:sym typeface="Arial"/>
              </a:rPr>
              <a:t> ou </a:t>
            </a:r>
            <a:r>
              <a:rPr b="1" i="0" lang="en-US" sz="2800" u="none" cap="none" strike="noStrike">
                <a:solidFill>
                  <a:schemeClr val="dk1"/>
                </a:solidFill>
                <a:latin typeface="Times New Roman"/>
                <a:ea typeface="Times New Roman"/>
                <a:cs typeface="Times New Roman"/>
                <a:sym typeface="Times New Roman"/>
              </a:rPr>
              <a:t>X</a:t>
            </a:r>
            <a:r>
              <a:rPr b="1" baseline="-25000" i="1" lang="en-US" sz="2800" u="none" cap="none" strike="noStrike">
                <a:solidFill>
                  <a:schemeClr val="dk1"/>
                </a:solidFill>
                <a:latin typeface="Times New Roman"/>
                <a:ea typeface="Times New Roman"/>
                <a:cs typeface="Times New Roman"/>
                <a:sym typeface="Times New Roman"/>
              </a:rPr>
              <a:t>ij</a:t>
            </a:r>
            <a:r>
              <a:rPr b="1" i="0" lang="en-US" sz="2800" u="none" cap="none" strike="noStrike">
                <a:solidFill>
                  <a:schemeClr val="dk1"/>
                </a:solidFill>
                <a:latin typeface="Arial"/>
                <a:ea typeface="Arial"/>
                <a:cs typeface="Arial"/>
                <a:sym typeface="Arial"/>
              </a:rPr>
              <a:t>, contém o valor da j-ésima característica para o i-ésimo objeto. Os </a:t>
            </a:r>
            <a:r>
              <a:rPr b="1" i="1" lang="en-US" sz="2800" u="none" cap="none" strike="noStrike">
                <a:solidFill>
                  <a:schemeClr val="dk1"/>
                </a:solidFill>
                <a:latin typeface="Times New Roman"/>
                <a:ea typeface="Times New Roman"/>
                <a:cs typeface="Times New Roman"/>
                <a:sym typeface="Times New Roman"/>
              </a:rPr>
              <a:t>d</a:t>
            </a:r>
            <a:r>
              <a:rPr b="1" i="0" lang="en-US" sz="2800" u="none" cap="none" strike="noStrike">
                <a:solidFill>
                  <a:schemeClr val="dk1"/>
                </a:solidFill>
                <a:latin typeface="Arial"/>
                <a:ea typeface="Arial"/>
                <a:cs typeface="Arial"/>
                <a:sym typeface="Arial"/>
              </a:rPr>
              <a:t> atributos também podem ser vistos como um conjunto de eixos ortogonais e os objetos como pontos no espaço de objetos de dimensão </a:t>
            </a:r>
            <a:r>
              <a:rPr b="1" i="1" lang="en-US" sz="2800" u="none" cap="none" strike="noStrike">
                <a:solidFill>
                  <a:schemeClr val="dk1"/>
                </a:solidFill>
                <a:latin typeface="Times New Roman"/>
                <a:ea typeface="Times New Roman"/>
                <a:cs typeface="Times New Roman"/>
                <a:sym typeface="Times New Roman"/>
              </a:rPr>
              <a:t>d</a:t>
            </a:r>
            <a:r>
              <a:rPr b="1" i="0" lang="en-US" sz="2800" u="none" cap="none" strike="noStrike">
                <a:solidFill>
                  <a:schemeClr val="dk1"/>
                </a:solidFill>
                <a:latin typeface="Arial"/>
                <a:ea typeface="Arial"/>
                <a:cs typeface="Arial"/>
                <a:sym typeface="Arial"/>
              </a:rPr>
              <a:t>.</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Por exemplo, considere o conjunto de dados dos pacientes de um hospital:</a:t>
            </a:r>
            <a:endParaRPr/>
          </a:p>
        </p:txBody>
      </p:sp>
      <p:sp>
        <p:nvSpPr>
          <p:cNvPr id="113" name="Google Shape;113;p16"/>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4</a:t>
            </a:r>
            <a:endParaRPr/>
          </a:p>
        </p:txBody>
      </p:sp>
      <p:pic>
        <p:nvPicPr>
          <p:cNvPr descr="logo fiap novo 2" id="114" name="Google Shape;114;p16"/>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15" name="Google Shape;115;p16"/>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Caracterização de Dados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logo fiap novo 2" id="120" name="Google Shape;120;p17"/>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21" name="Google Shape;121;p17"/>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5</a:t>
            </a:r>
            <a:endParaRPr/>
          </a:p>
        </p:txBody>
      </p:sp>
      <p:sp>
        <p:nvSpPr>
          <p:cNvPr id="122" name="Google Shape;122;p17"/>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Caracterização de Dados</a:t>
            </a:r>
            <a:endParaRPr/>
          </a:p>
        </p:txBody>
      </p:sp>
      <p:pic>
        <p:nvPicPr>
          <p:cNvPr id="123" name="Google Shape;123;p17"/>
          <p:cNvPicPr preferRelativeResize="0"/>
          <p:nvPr/>
        </p:nvPicPr>
        <p:blipFill rotWithShape="1">
          <a:blip r:embed="rId4">
            <a:alphaModFix/>
          </a:blip>
          <a:srcRect b="0" l="0" r="0" t="0"/>
          <a:stretch/>
        </p:blipFill>
        <p:spPr>
          <a:xfrm>
            <a:off x="442912" y="1908175"/>
            <a:ext cx="8258175" cy="4324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nvSpPr>
        <p:spPr>
          <a:xfrm>
            <a:off x="315912" y="1447800"/>
            <a:ext cx="8512175"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Neste exemplo, cada objeto corresponde a um paciente, representado pelos valores de seus atributos de entrada: Id. (identificação do paciente), Nome, Idade, Sexo, Peso, Manchas (presença e distribuição de manchas no corpo), Temp. (temperatura do corpo), #Int. (número de internações) e Est. (estado de origem). Tabelas com este formato também são denominadas </a:t>
            </a:r>
            <a:r>
              <a:rPr b="1" i="0" lang="en-US" sz="2800" u="sng" cap="none" strike="noStrike">
                <a:solidFill>
                  <a:schemeClr val="accent2"/>
                </a:solidFill>
                <a:latin typeface="Arial"/>
                <a:ea typeface="Arial"/>
                <a:cs typeface="Arial"/>
                <a:sym typeface="Arial"/>
              </a:rPr>
              <a:t>tabelas atributo-valor</a:t>
            </a:r>
            <a:r>
              <a:rPr b="1" i="0" lang="en-US" sz="2800" u="none" cap="none" strike="noStrike">
                <a:solidFill>
                  <a:schemeClr val="dk1"/>
                </a:solidFill>
                <a:latin typeface="Arial"/>
                <a:ea typeface="Arial"/>
                <a:cs typeface="Arial"/>
                <a:sym typeface="Arial"/>
              </a:rPr>
              <a:t>. </a:t>
            </a:r>
            <a:endParaRPr/>
          </a:p>
        </p:txBody>
      </p:sp>
      <p:sp>
        <p:nvSpPr>
          <p:cNvPr id="129" name="Google Shape;129;p18"/>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6</a:t>
            </a:r>
            <a:endParaRPr/>
          </a:p>
        </p:txBody>
      </p:sp>
      <p:pic>
        <p:nvPicPr>
          <p:cNvPr descr="logo fiap novo 2" id="130" name="Google Shape;130;p18"/>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31" name="Google Shape;131;p18"/>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Caracterização de Dados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9"/>
          <p:cNvSpPr txBox="1"/>
          <p:nvPr/>
        </p:nvSpPr>
        <p:spPr>
          <a:xfrm>
            <a:off x="315912" y="1447800"/>
            <a:ext cx="8512175"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Além dos atributos de entrada, a tabela apresenta um </a:t>
            </a:r>
            <a:r>
              <a:rPr b="1" i="0" lang="en-US" sz="2800" u="sng" cap="none" strike="noStrike">
                <a:solidFill>
                  <a:schemeClr val="accent2"/>
                </a:solidFill>
                <a:latin typeface="Arial"/>
                <a:ea typeface="Arial"/>
                <a:cs typeface="Arial"/>
                <a:sym typeface="Arial"/>
              </a:rPr>
              <a:t>atributo alvo</a:t>
            </a:r>
            <a:r>
              <a:rPr b="1" i="0" lang="en-US" sz="2800" u="none" cap="none" strike="noStrike">
                <a:solidFill>
                  <a:schemeClr val="dk1"/>
                </a:solidFill>
                <a:latin typeface="Arial"/>
                <a:ea typeface="Arial"/>
                <a:cs typeface="Arial"/>
                <a:sym typeface="Arial"/>
              </a:rPr>
              <a:t>, também denominado atributo meta ou atributo de saída, que representa o que se deseja prever; neste exemplo, Diagnóstico. Para tarefas descritivas, o conjunto de dados não precisa ter atributo alvo. Já para as tarefas preditivas, o atributo alvo precisa estar presente. Na maioria dos casos, os dados apresentam apenas um atributo alvo.</a:t>
            </a:r>
            <a:endParaRPr/>
          </a:p>
        </p:txBody>
      </p:sp>
      <p:pic>
        <p:nvPicPr>
          <p:cNvPr descr="logo fiap novo 2" id="137" name="Google Shape;137;p19"/>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38" name="Google Shape;138;p19"/>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7</a:t>
            </a:r>
            <a:endParaRPr/>
          </a:p>
        </p:txBody>
      </p:sp>
      <p:sp>
        <p:nvSpPr>
          <p:cNvPr id="139" name="Google Shape;139;p19"/>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Caracterização de Dados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0"/>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8</a:t>
            </a:r>
            <a:endParaRPr/>
          </a:p>
        </p:txBody>
      </p:sp>
      <p:sp>
        <p:nvSpPr>
          <p:cNvPr id="145" name="Google Shape;145;p20"/>
          <p:cNvSpPr txBox="1"/>
          <p:nvPr/>
        </p:nvSpPr>
        <p:spPr>
          <a:xfrm>
            <a:off x="315912" y="1447800"/>
            <a:ext cx="8512175" cy="35401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 tipo define se o atributo representa quantidades, sendo então denominado </a:t>
            </a:r>
            <a:r>
              <a:rPr b="1" i="0" lang="en-US" sz="2800" u="sng" cap="none" strike="noStrike">
                <a:solidFill>
                  <a:schemeClr val="accent2"/>
                </a:solidFill>
                <a:latin typeface="Arial"/>
                <a:ea typeface="Arial"/>
                <a:cs typeface="Arial"/>
                <a:sym typeface="Arial"/>
              </a:rPr>
              <a:t>quantitativo</a:t>
            </a:r>
            <a:r>
              <a:rPr b="1" i="0" lang="en-US" sz="2800" u="none" cap="none" strike="noStrike">
                <a:solidFill>
                  <a:schemeClr val="dk1"/>
                </a:solidFill>
                <a:latin typeface="Arial"/>
                <a:ea typeface="Arial"/>
                <a:cs typeface="Arial"/>
                <a:sym typeface="Arial"/>
              </a:rPr>
              <a:t> (numérico) ou </a:t>
            </a:r>
            <a:r>
              <a:rPr b="1" i="0" lang="en-US" sz="2800" u="sng" cap="none" strike="noStrike">
                <a:solidFill>
                  <a:schemeClr val="accent2"/>
                </a:solidFill>
                <a:latin typeface="Arial"/>
                <a:ea typeface="Arial"/>
                <a:cs typeface="Arial"/>
                <a:sym typeface="Arial"/>
              </a:rPr>
              <a:t>qualitativo</a:t>
            </a:r>
            <a:r>
              <a:rPr b="1" i="0" lang="en-US" sz="2800" u="none" cap="none" strike="noStrike">
                <a:solidFill>
                  <a:schemeClr val="dk1"/>
                </a:solidFill>
                <a:latin typeface="Arial"/>
                <a:ea typeface="Arial"/>
                <a:cs typeface="Arial"/>
                <a:sym typeface="Arial"/>
              </a:rPr>
              <a:t>  (qualidades), também chamado de </a:t>
            </a:r>
            <a:r>
              <a:rPr b="1" i="0" lang="en-US" sz="2800" u="sng" cap="none" strike="noStrike">
                <a:solidFill>
                  <a:schemeClr val="accent2"/>
                </a:solidFill>
                <a:latin typeface="Arial"/>
                <a:ea typeface="Arial"/>
                <a:cs typeface="Arial"/>
                <a:sym typeface="Arial"/>
              </a:rPr>
              <a:t>simbólico</a:t>
            </a:r>
            <a:r>
              <a:rPr b="1" i="0" lang="en-US" sz="2800" u="none" cap="none" strike="noStrike">
                <a:solidFill>
                  <a:schemeClr val="dk1"/>
                </a:solidFill>
                <a:latin typeface="Arial"/>
                <a:ea typeface="Arial"/>
                <a:cs typeface="Arial"/>
                <a:sym typeface="Arial"/>
              </a:rPr>
              <a:t> ou </a:t>
            </a:r>
            <a:r>
              <a:rPr b="1" i="0" lang="en-US" sz="2800" u="sng" cap="none" strike="noStrike">
                <a:solidFill>
                  <a:schemeClr val="accent2"/>
                </a:solidFill>
                <a:latin typeface="Arial"/>
                <a:ea typeface="Arial"/>
                <a:cs typeface="Arial"/>
                <a:sym typeface="Arial"/>
              </a:rPr>
              <a:t>categórico</a:t>
            </a:r>
            <a:r>
              <a:rPr b="1" i="0" lang="en-US" sz="2800" u="none" cap="none" strike="noStrike">
                <a:solidFill>
                  <a:schemeClr val="dk1"/>
                </a:solidFill>
                <a:latin typeface="Arial"/>
                <a:ea typeface="Arial"/>
                <a:cs typeface="Arial"/>
                <a:sym typeface="Arial"/>
              </a:rPr>
              <a:t>, pois os valores podem ser associados a categorias. Exemplos de conjuntos de valores qualitativos são {pequeno, médio, grande} e {regular, bom, ótimo}. </a:t>
            </a:r>
            <a:endParaRPr/>
          </a:p>
        </p:txBody>
      </p:sp>
      <p:sp>
        <p:nvSpPr>
          <p:cNvPr id="146" name="Google Shape;146;p20"/>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Tipos de Atributos</a:t>
            </a:r>
            <a:endParaRPr/>
          </a:p>
        </p:txBody>
      </p:sp>
      <p:pic>
        <p:nvPicPr>
          <p:cNvPr descr="logo fiap novo 2" id="147" name="Google Shape;147;p20"/>
          <p:cNvPicPr preferRelativeResize="0"/>
          <p:nvPr/>
        </p:nvPicPr>
        <p:blipFill rotWithShape="1">
          <a:blip r:embed="rId3">
            <a:alphaModFix/>
          </a:blip>
          <a:srcRect b="0" l="0" r="0" t="0"/>
          <a:stretch/>
        </p:blipFill>
        <p:spPr>
          <a:xfrm>
            <a:off x="0" y="0"/>
            <a:ext cx="1547812" cy="12684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nvSpPr>
        <p:spPr>
          <a:xfrm>
            <a:off x="315912" y="1447800"/>
            <a:ext cx="8512175"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Apesar de alguns atributos qualitativos poderem ser ordenados, operações aritméticas não podem ser realizadas com seus valores. Já os atributos quantitativos, sendo numéricos, como no conjunto de valores {23, 37, 59}, permitem a realização de operações aritméticas. Os valores de um atributo quantitativo podem tanto ser ordenados quanto utilizados em operações aritméticas.</a:t>
            </a:r>
            <a:endParaRPr/>
          </a:p>
        </p:txBody>
      </p:sp>
      <p:pic>
        <p:nvPicPr>
          <p:cNvPr descr="logo fiap novo 2" id="153" name="Google Shape;153;p21"/>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54" name="Google Shape;154;p21"/>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9</a:t>
            </a:r>
            <a:endParaRPr/>
          </a:p>
        </p:txBody>
      </p:sp>
      <p:sp>
        <p:nvSpPr>
          <p:cNvPr id="155" name="Google Shape;155;p21"/>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Tipos de Atributos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nvSpPr>
        <p:spPr>
          <a:xfrm>
            <a:off x="315912" y="1447800"/>
            <a:ext cx="8512175" cy="534987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Valores quantitativos podem ser </a:t>
            </a:r>
            <a:r>
              <a:rPr b="1" i="0" lang="en-US" sz="2800" u="sng" cap="none" strike="noStrike">
                <a:solidFill>
                  <a:schemeClr val="accent2"/>
                </a:solidFill>
                <a:latin typeface="Arial"/>
                <a:ea typeface="Arial"/>
                <a:cs typeface="Arial"/>
                <a:sym typeface="Arial"/>
              </a:rPr>
              <a:t>contínuos</a:t>
            </a:r>
            <a:r>
              <a:rPr b="1" i="0" lang="en-US" sz="2800" u="none" cap="none" strike="noStrike">
                <a:solidFill>
                  <a:schemeClr val="dk1"/>
                </a:solidFill>
                <a:latin typeface="Arial"/>
                <a:ea typeface="Arial"/>
                <a:cs typeface="Arial"/>
                <a:sym typeface="Arial"/>
              </a:rPr>
              <a:t> – por exemplo, peso de uma pessoa (67,2 kg; 67,3 kg; 67,4 kg; ...) – ou </a:t>
            </a:r>
            <a:r>
              <a:rPr b="1" i="0" lang="en-US" sz="2800" u="sng" cap="none" strike="noStrike">
                <a:solidFill>
                  <a:schemeClr val="accent2"/>
                </a:solidFill>
                <a:latin typeface="Arial"/>
                <a:ea typeface="Arial"/>
                <a:cs typeface="Arial"/>
                <a:sym typeface="Arial"/>
              </a:rPr>
              <a:t>discretos</a:t>
            </a:r>
            <a:r>
              <a:rPr b="1" i="0" lang="en-US" sz="2800" u="none" cap="none" strike="noStrike">
                <a:solidFill>
                  <a:schemeClr val="dk1"/>
                </a:solidFill>
                <a:latin typeface="Arial"/>
                <a:ea typeface="Arial"/>
                <a:cs typeface="Arial"/>
                <a:sym typeface="Arial"/>
              </a:rPr>
              <a:t> – por exemplo, quantidade de livros em uma biblioteca (10, 15, 20, ...). Desta forma, atributos contínuos podem assumir um número infinito de valores. Em geral, estes atributos são resultados de medidas, sendo, portanto, representados por números reais. Note-se que uma medida quantitativa possui, além do valor numérico, uma unidade, por exemplo, metros (m) ou quilos (kg).</a:t>
            </a:r>
            <a:endParaRPr/>
          </a:p>
        </p:txBody>
      </p:sp>
      <p:pic>
        <p:nvPicPr>
          <p:cNvPr descr="logo fiap novo 2" id="161" name="Google Shape;161;p22"/>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62" name="Google Shape;162;p22"/>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10</a:t>
            </a:r>
            <a:endParaRPr/>
          </a:p>
        </p:txBody>
      </p:sp>
      <p:sp>
        <p:nvSpPr>
          <p:cNvPr id="163" name="Google Shape;163;p22"/>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Tipos de Atributos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3"/>
          <p:cNvSpPr txBox="1"/>
          <p:nvPr/>
        </p:nvSpPr>
        <p:spPr>
          <a:xfrm>
            <a:off x="315912" y="1447800"/>
            <a:ext cx="8512175" cy="4278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Atributos discretos contêm um número contável de valores (finito ou infinito). Um caso especial dos atributos discretos são os </a:t>
            </a:r>
            <a:r>
              <a:rPr b="1" i="0" lang="en-US" sz="2800" u="sng" cap="none" strike="noStrike">
                <a:solidFill>
                  <a:schemeClr val="accent2"/>
                </a:solidFill>
                <a:latin typeface="Arial"/>
                <a:ea typeface="Arial"/>
                <a:cs typeface="Arial"/>
                <a:sym typeface="Arial"/>
              </a:rPr>
              <a:t>atributos binários</a:t>
            </a:r>
            <a:r>
              <a:rPr b="1" i="0" lang="en-US" sz="2800" u="none" cap="none" strike="noStrike">
                <a:solidFill>
                  <a:schemeClr val="dk1"/>
                </a:solidFill>
                <a:latin typeface="Arial"/>
                <a:ea typeface="Arial"/>
                <a:cs typeface="Arial"/>
                <a:sym typeface="Arial"/>
              </a:rPr>
              <a:t> (ou booleanos), que apresentam apenas dois valores, como 0/1, sim/não, ausência/presença e verdadeiro/falso.</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Em termos de tipos, os atributos presentes no conjunto de dados dos pacientes de um hospital são classificados da seguinte forma:</a:t>
            </a:r>
            <a:endParaRPr/>
          </a:p>
        </p:txBody>
      </p:sp>
      <p:pic>
        <p:nvPicPr>
          <p:cNvPr descr="logo fiap novo 2" id="169" name="Google Shape;169;p2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70" name="Google Shape;170;p23"/>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11</a:t>
            </a:r>
            <a:endParaRPr/>
          </a:p>
        </p:txBody>
      </p:sp>
      <p:sp>
        <p:nvSpPr>
          <p:cNvPr id="171" name="Google Shape;171;p23"/>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Tipos de Atributos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logo fiap novo 2" id="176" name="Google Shape;176;p24"/>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77" name="Google Shape;177;p2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12</a:t>
            </a:r>
            <a:endParaRPr/>
          </a:p>
        </p:txBody>
      </p:sp>
      <p:pic>
        <p:nvPicPr>
          <p:cNvPr descr="Tabela&#10;&#10;O conteúdo gerado por IA pode estar incorreto." id="178" name="Google Shape;178;p24"/>
          <p:cNvPicPr preferRelativeResize="0"/>
          <p:nvPr/>
        </p:nvPicPr>
        <p:blipFill rotWithShape="1">
          <a:blip r:embed="rId4">
            <a:alphaModFix/>
          </a:blip>
          <a:srcRect b="0" l="0" r="0" t="0"/>
          <a:stretch/>
        </p:blipFill>
        <p:spPr>
          <a:xfrm>
            <a:off x="1447800" y="1277937"/>
            <a:ext cx="6248400" cy="5568950"/>
          </a:xfrm>
          <a:prstGeom prst="rect">
            <a:avLst/>
          </a:prstGeom>
          <a:noFill/>
          <a:ln>
            <a:noFill/>
          </a:ln>
        </p:spPr>
      </p:pic>
      <p:sp>
        <p:nvSpPr>
          <p:cNvPr id="179" name="Google Shape;179;p24"/>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Tipos de Atributos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5"/>
          <p:cNvSpPr txBox="1"/>
          <p:nvPr/>
        </p:nvSpPr>
        <p:spPr>
          <a:xfrm>
            <a:off x="315912" y="1447800"/>
            <a:ext cx="8512175"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 </a:t>
            </a:r>
            <a:r>
              <a:rPr b="1" i="0" lang="en-US" sz="2800" u="sng" cap="none" strike="noStrike">
                <a:solidFill>
                  <a:schemeClr val="accent2"/>
                </a:solidFill>
                <a:latin typeface="Arial"/>
                <a:ea typeface="Arial"/>
                <a:cs typeface="Arial"/>
                <a:sym typeface="Arial"/>
              </a:rPr>
              <a:t>escala</a:t>
            </a:r>
            <a:r>
              <a:rPr b="1" i="0" lang="en-US" sz="2800" u="none" cap="none" strike="noStrike">
                <a:solidFill>
                  <a:schemeClr val="dk1"/>
                </a:solidFill>
                <a:latin typeface="Arial"/>
                <a:ea typeface="Arial"/>
                <a:cs typeface="Arial"/>
                <a:sym typeface="Arial"/>
              </a:rPr>
              <a:t> define as operações que podem ser realizadas sobre os valores do atributo. Em relação à escala, os atributos podem ser classificados como nominais, ordinais, intervalares e racionais. Os dois primeiros são qualitativos e os dois últimos são quantitativos.</a:t>
            </a:r>
            <a:endParaRPr/>
          </a:p>
        </p:txBody>
      </p:sp>
      <p:pic>
        <p:nvPicPr>
          <p:cNvPr descr="logo fiap novo 2" id="185" name="Google Shape;185;p25"/>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86" name="Google Shape;186;p25"/>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13</a:t>
            </a:r>
            <a:endParaRPr/>
          </a:p>
        </p:txBody>
      </p:sp>
      <p:sp>
        <p:nvSpPr>
          <p:cNvPr id="187" name="Google Shape;187;p25"/>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nvSpPr>
        <p:spPr>
          <a:xfrm>
            <a:off x="315912" y="1447800"/>
            <a:ext cx="8512175" cy="5294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600"/>
              <a:buFont typeface="Arial"/>
              <a:buNone/>
            </a:pPr>
            <a:r>
              <a:rPr b="1" i="0" lang="en-US" sz="2600" u="none" cap="none" strike="noStrike">
                <a:solidFill>
                  <a:schemeClr val="dk1"/>
                </a:solidFill>
                <a:latin typeface="Arial"/>
                <a:ea typeface="Arial"/>
                <a:cs typeface="Arial"/>
                <a:sym typeface="Arial"/>
              </a:rPr>
              <a:t>Na </a:t>
            </a:r>
            <a:r>
              <a:rPr b="1" i="0" lang="en-US" sz="2600" u="sng" cap="none" strike="noStrike">
                <a:solidFill>
                  <a:schemeClr val="accent2"/>
                </a:solidFill>
                <a:latin typeface="Arial"/>
                <a:ea typeface="Arial"/>
                <a:cs typeface="Arial"/>
                <a:sym typeface="Arial"/>
              </a:rPr>
              <a:t>escala nominal</a:t>
            </a:r>
            <a:r>
              <a:rPr b="1" i="0" lang="en-US" sz="2600" u="none" cap="none" strike="noStrike">
                <a:solidFill>
                  <a:schemeClr val="dk1"/>
                </a:solidFill>
                <a:latin typeface="Arial"/>
                <a:ea typeface="Arial"/>
                <a:cs typeface="Arial"/>
                <a:sym typeface="Arial"/>
              </a:rPr>
              <a:t>, os valores são apenas nomes diferentes, carregando a menor quantidade de informação possível. Não existe uma relação de ordem entre seus valores. Assim, as operações mais utilizadas para manipulação de seus valores são as de igualdade e desigualdade de valores. Por exemplo, se o atributo representa os estados do Brasil, só é possível verificar se dois valores são iguais ou diferentes – exceto se os estados forem ordenados em ordem alfabética, alterando este atributo  para o tipo ordinal. São exemplos de atributos com escala nominal: nome do paciente, RG, CPF, CEP e gênero.</a:t>
            </a:r>
            <a:endParaRPr/>
          </a:p>
        </p:txBody>
      </p:sp>
      <p:pic>
        <p:nvPicPr>
          <p:cNvPr descr="logo fiap novo 2" id="193" name="Google Shape;193;p26"/>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194" name="Google Shape;194;p26"/>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14</a:t>
            </a:r>
            <a:endParaRPr/>
          </a:p>
        </p:txBody>
      </p:sp>
      <p:sp>
        <p:nvSpPr>
          <p:cNvPr id="195" name="Google Shape;195;p26"/>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nvSpPr>
        <p:spPr>
          <a:xfrm>
            <a:off x="173037" y="1447800"/>
            <a:ext cx="8801100" cy="52625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Os valores em uma </a:t>
            </a:r>
            <a:r>
              <a:rPr b="1" i="0" lang="en-US" sz="2800" u="sng" cap="none" strike="noStrike">
                <a:solidFill>
                  <a:schemeClr val="accent2"/>
                </a:solidFill>
                <a:latin typeface="Arial"/>
                <a:ea typeface="Arial"/>
                <a:cs typeface="Arial"/>
                <a:sym typeface="Arial"/>
              </a:rPr>
              <a:t>escala ordinal</a:t>
            </a:r>
            <a:r>
              <a:rPr b="1" i="0" lang="en-US" sz="2800" u="none" cap="none" strike="noStrike">
                <a:solidFill>
                  <a:schemeClr val="dk1"/>
                </a:solidFill>
                <a:latin typeface="Arial"/>
                <a:ea typeface="Arial"/>
                <a:cs typeface="Arial"/>
                <a:sym typeface="Arial"/>
              </a:rPr>
              <a:t> refletem também uma ordem das categorias representadas. Desta forma, além dos operadores anteriores, operadores como &lt;, &gt;, ≤, ≥ podem ser utilizados. Por exemplo, quando um atributo possui como valores {pequeno, médio, grande}, além de os valores serem categóricos, é possível definir se um valor é igual, maior ou menor que outro. Exemplos de atributos com escala ordinal são hierarquia militar, hierarquia organizacional e avaliações qualitativas de temperatura (frio, morno e quente).</a:t>
            </a:r>
            <a:endParaRPr/>
          </a:p>
        </p:txBody>
      </p:sp>
      <p:pic>
        <p:nvPicPr>
          <p:cNvPr descr="logo fiap novo 2" id="201" name="Google Shape;201;p27"/>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02" name="Google Shape;202;p27"/>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15</a:t>
            </a:r>
            <a:endParaRPr/>
          </a:p>
        </p:txBody>
      </p:sp>
      <p:sp>
        <p:nvSpPr>
          <p:cNvPr id="203" name="Google Shape;203;p27"/>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8"/>
          <p:cNvSpPr txBox="1"/>
          <p:nvPr/>
        </p:nvSpPr>
        <p:spPr>
          <a:xfrm>
            <a:off x="315912" y="1447800"/>
            <a:ext cx="8512175" cy="3970337"/>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Na </a:t>
            </a:r>
            <a:r>
              <a:rPr b="1" i="0" lang="en-US" sz="2800" u="sng" cap="none" strike="noStrike">
                <a:solidFill>
                  <a:schemeClr val="accent2"/>
                </a:solidFill>
                <a:latin typeface="Arial"/>
                <a:ea typeface="Arial"/>
                <a:cs typeface="Arial"/>
                <a:sym typeface="Arial"/>
              </a:rPr>
              <a:t>escala intervalar</a:t>
            </a:r>
            <a:r>
              <a:rPr b="1" i="0" lang="en-US" sz="2800" u="none" cap="none" strike="noStrike">
                <a:solidFill>
                  <a:schemeClr val="dk1"/>
                </a:solidFill>
                <a:latin typeface="Arial"/>
                <a:ea typeface="Arial"/>
                <a:cs typeface="Arial"/>
                <a:sym typeface="Arial"/>
              </a:rPr>
              <a:t>, os atributos são representados por números que variam dentro de um intervalo. Assim, é possível definir tanto a ordem quanto a diferença em magnitude entre dois valores. A diferença em magnitude indica a distância que separa dois valores no intervalo de possíveis valores. O valor zero não tem o mesmo significado que o zero utilizado em operações aritméticas.</a:t>
            </a:r>
            <a:endParaRPr/>
          </a:p>
        </p:txBody>
      </p:sp>
      <p:pic>
        <p:nvPicPr>
          <p:cNvPr descr="logo fiap novo 2" id="209" name="Google Shape;209;p28"/>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10" name="Google Shape;210;p28"/>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16</a:t>
            </a:r>
            <a:endParaRPr/>
          </a:p>
        </p:txBody>
      </p:sp>
      <p:sp>
        <p:nvSpPr>
          <p:cNvPr id="211" name="Google Shape;211;p28"/>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9"/>
          <p:cNvSpPr txBox="1"/>
          <p:nvPr/>
        </p:nvSpPr>
        <p:spPr>
          <a:xfrm>
            <a:off x="315912" y="1447800"/>
            <a:ext cx="8512175" cy="440055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Por exemplo, seja a escala de temperatura dada em graus Celsius. Se o serviço de previsão do tempo em dias de verão para uma dada cidade informa que a temperatura vai variar entre 27°C e 33°C graus e em dias de inverno, para a mesma cidade, informa que vai variar entre 11°C e 17°C, tem-se que a temperatura desta cidade apresenta uma variação de 6°C  graus entre a mínima e a máxima, não importa se a estação do ano é verão ou inverno.</a:t>
            </a:r>
            <a:endParaRPr/>
          </a:p>
        </p:txBody>
      </p:sp>
      <p:pic>
        <p:nvPicPr>
          <p:cNvPr descr="logo fiap novo 2" id="217" name="Google Shape;217;p29"/>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18" name="Google Shape;218;p29"/>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17</a:t>
            </a:r>
            <a:endParaRPr/>
          </a:p>
        </p:txBody>
      </p:sp>
      <p:sp>
        <p:nvSpPr>
          <p:cNvPr id="219" name="Google Shape;219;p29"/>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nvSpPr>
        <p:spPr>
          <a:xfrm>
            <a:off x="315912" y="1447800"/>
            <a:ext cx="8512175" cy="526256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Entretanto, 90 graus Celsius é diferente de 90 graus Fahrenheit, apesar de ambos os valores se referirem ao atributo temperatura, do mesmo modo que não é possível afirmar que no inverno a cidade é duas vezes menos quente que no verão, pois não faz sentido, para esse atributo, utilizar como informação a razão entre dois valores. Isto ocorre porque o ponto em que este atributo assume o valor 0, chamado de ponto zero ou origem da escala, é definido de forma arbitrária. Isso é uma característica dos atributos intervalares.</a:t>
            </a:r>
            <a:endParaRPr/>
          </a:p>
        </p:txBody>
      </p:sp>
      <p:pic>
        <p:nvPicPr>
          <p:cNvPr descr="logo fiap novo 2" id="225" name="Google Shape;225;p30"/>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26" name="Google Shape;226;p30"/>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18</a:t>
            </a:r>
            <a:endParaRPr/>
          </a:p>
        </p:txBody>
      </p:sp>
      <p:sp>
        <p:nvSpPr>
          <p:cNvPr id="227" name="Google Shape;227;p30"/>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nvSpPr>
        <p:spPr>
          <a:xfrm>
            <a:off x="315912" y="1447800"/>
            <a:ext cx="8512175" cy="4278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Atributos com </a:t>
            </a:r>
            <a:r>
              <a:rPr b="1" i="0" lang="en-US" sz="2800" u="sng" cap="none" strike="noStrike">
                <a:solidFill>
                  <a:schemeClr val="accent2"/>
                </a:solidFill>
                <a:latin typeface="Arial"/>
                <a:ea typeface="Arial"/>
                <a:cs typeface="Arial"/>
                <a:sym typeface="Arial"/>
              </a:rPr>
              <a:t>escala racional</a:t>
            </a:r>
            <a:r>
              <a:rPr b="1" i="0" lang="en-US" sz="2800" u="none" cap="none" strike="noStrike">
                <a:solidFill>
                  <a:schemeClr val="dk1"/>
                </a:solidFill>
                <a:latin typeface="Arial"/>
                <a:ea typeface="Arial"/>
                <a:cs typeface="Arial"/>
                <a:sym typeface="Arial"/>
              </a:rPr>
              <a:t> (ou de razão) são os atributos que carregam mais informações. Os números têm um significado absoluto, ou seja, existe um zero absoluto junto com uma unidade de medida, de forma que a razão tenha significado.</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Por exemplo, considerando o número de vezes que uma pessoa foi ao hospital, o valor zero está associado a não ter ocorrido nenhuma visita.</a:t>
            </a:r>
            <a:endParaRPr/>
          </a:p>
        </p:txBody>
      </p:sp>
      <p:pic>
        <p:nvPicPr>
          <p:cNvPr descr="logo fiap novo 2" id="233" name="Google Shape;233;p31"/>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34" name="Google Shape;234;p31"/>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19</a:t>
            </a:r>
            <a:endParaRPr/>
          </a:p>
        </p:txBody>
      </p:sp>
      <p:sp>
        <p:nvSpPr>
          <p:cNvPr id="235" name="Google Shape;235;p31"/>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nvSpPr>
        <p:spPr>
          <a:xfrm>
            <a:off x="315912" y="1447800"/>
            <a:ext cx="8512175" cy="42783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Assim, se um paciente teve duas internações e outro teve oito internações, é correto dizer que o segundo paciente esteve internado quatro vezes mais que o primeiro.</a:t>
            </a:r>
            <a:endParaRPr/>
          </a:p>
          <a:p>
            <a:pPr indent="0" lvl="0" marL="0" marR="0" rtl="0" algn="just">
              <a:lnSpc>
                <a:spcPct val="100000"/>
              </a:lnSpc>
              <a:spcBef>
                <a:spcPts val="240"/>
              </a:spcBef>
              <a:spcAft>
                <a:spcPts val="0"/>
              </a:spcAft>
              <a:buClr>
                <a:schemeClr val="dk1"/>
              </a:buClr>
              <a:buSzPts val="1200"/>
              <a:buFont typeface="Arial"/>
              <a:buNone/>
            </a:pPr>
            <a:r>
              <a:t/>
            </a:r>
            <a:endParaRPr b="1" i="0" sz="1200" u="none" cap="none" strike="noStrike">
              <a:solidFill>
                <a:schemeClr val="dk1"/>
              </a:solidFill>
              <a:latin typeface="Arial"/>
              <a:ea typeface="Arial"/>
              <a:cs typeface="Arial"/>
              <a:sym typeface="Arial"/>
            </a:endParaRPr>
          </a:p>
          <a:p>
            <a:pPr indent="0" lvl="0" marL="0" marR="0" rtl="0" algn="just">
              <a:lnSpc>
                <a:spcPct val="100000"/>
              </a:lnSpc>
              <a:spcBef>
                <a:spcPts val="56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Ou seja, faz sentido, para estes atributos, utilizar a razão entre dois valores. Outros exemplos de atributos com escala de razão são tamanho, distância e valores financeiros, como salário e saldo em conta corrente.</a:t>
            </a:r>
            <a:endParaRPr/>
          </a:p>
        </p:txBody>
      </p:sp>
      <p:pic>
        <p:nvPicPr>
          <p:cNvPr descr="logo fiap novo 2" id="241" name="Google Shape;241;p32"/>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42" name="Google Shape;242;p32"/>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
        <p:nvSpPr>
          <p:cNvPr id="243" name="Google Shape;243;p32"/>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20</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nvSpPr>
        <p:spPr>
          <a:xfrm>
            <a:off x="315912" y="1447800"/>
            <a:ext cx="8512175" cy="1384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Em termos de escala, os atributos presentes no conjunto de dados dos pacientes de um hospital são classificados da seguinte forma:</a:t>
            </a:r>
            <a:endParaRPr/>
          </a:p>
        </p:txBody>
      </p:sp>
      <p:pic>
        <p:nvPicPr>
          <p:cNvPr descr="logo fiap novo 2" id="249" name="Google Shape;249;p33"/>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50" name="Google Shape;250;p33"/>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
        <p:nvSpPr>
          <p:cNvPr id="251" name="Google Shape;251;p33"/>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descr="logo fiap novo 2" id="256" name="Google Shape;256;p34"/>
          <p:cNvPicPr preferRelativeResize="0"/>
          <p:nvPr/>
        </p:nvPicPr>
        <p:blipFill rotWithShape="1">
          <a:blip r:embed="rId3">
            <a:alphaModFix/>
          </a:blip>
          <a:srcRect b="0" l="0" r="0" t="0"/>
          <a:stretch/>
        </p:blipFill>
        <p:spPr>
          <a:xfrm>
            <a:off x="0" y="0"/>
            <a:ext cx="1547812" cy="1268412"/>
          </a:xfrm>
          <a:prstGeom prst="rect">
            <a:avLst/>
          </a:prstGeom>
          <a:noFill/>
          <a:ln>
            <a:noFill/>
          </a:ln>
        </p:spPr>
      </p:pic>
      <p:sp>
        <p:nvSpPr>
          <p:cNvPr id="257" name="Google Shape;257;p34"/>
          <p:cNvSpPr txBox="1"/>
          <p:nvPr/>
        </p:nvSpPr>
        <p:spPr>
          <a:xfrm>
            <a:off x="1692275" y="144462"/>
            <a:ext cx="7272337" cy="647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Escala</a:t>
            </a:r>
            <a:endParaRPr/>
          </a:p>
        </p:txBody>
      </p:sp>
      <p:sp>
        <p:nvSpPr>
          <p:cNvPr id="258" name="Google Shape;258;p34"/>
          <p:cNvSpPr txBox="1"/>
          <p:nvPr/>
        </p:nvSpPr>
        <p:spPr>
          <a:xfrm>
            <a:off x="8496300" y="6470650"/>
            <a:ext cx="647700" cy="38735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000"/>
              <a:buFont typeface="Arial"/>
              <a:buNone/>
            </a:pPr>
            <a:r>
              <a:rPr b="1" i="0" lang="en-US" sz="2000" u="none" cap="none" strike="noStrike">
                <a:solidFill>
                  <a:schemeClr val="dk2"/>
                </a:solidFill>
                <a:latin typeface="Arial"/>
                <a:ea typeface="Arial"/>
                <a:cs typeface="Arial"/>
                <a:sym typeface="Arial"/>
              </a:rPr>
              <a:t>22</a:t>
            </a:r>
            <a:endParaRPr/>
          </a:p>
        </p:txBody>
      </p:sp>
      <p:pic>
        <p:nvPicPr>
          <p:cNvPr id="259" name="Google Shape;259;p34"/>
          <p:cNvPicPr preferRelativeResize="0"/>
          <p:nvPr/>
        </p:nvPicPr>
        <p:blipFill rotWithShape="1">
          <a:blip r:embed="rId4">
            <a:alphaModFix/>
          </a:blip>
          <a:srcRect b="0" l="0" r="0" t="0"/>
          <a:stretch/>
        </p:blipFill>
        <p:spPr>
          <a:xfrm>
            <a:off x="1782762" y="971550"/>
            <a:ext cx="5583237" cy="57769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