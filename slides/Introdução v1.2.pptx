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9144000"/>
  <p:notesSz cx="6889750" cy="96710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schemas.openxmlformats.org/officeDocument/2006/relationships/slide" Target="slides/slide19.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86087" cy="484187"/>
          </a:xfrm>
          <a:prstGeom prst="rect">
            <a:avLst/>
          </a:prstGeom>
          <a:noFill/>
          <a:ln>
            <a:noFill/>
          </a:ln>
        </p:spPr>
        <p:txBody>
          <a:bodyPr anchorCtr="0" anchor="t" bIns="47950" lIns="95925" spcFirstLastPara="1" rIns="95925" wrap="square" tIns="4795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902075" y="0"/>
            <a:ext cx="2986087" cy="484187"/>
          </a:xfrm>
          <a:prstGeom prst="rect">
            <a:avLst/>
          </a:prstGeom>
          <a:noFill/>
          <a:ln>
            <a:noFill/>
          </a:ln>
        </p:spPr>
        <p:txBody>
          <a:bodyPr anchorCtr="0" anchor="t" bIns="47950" lIns="95925" spcFirstLastPara="1" rIns="95925" wrap="square" tIns="4795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8975" y="4594225"/>
            <a:ext cx="5511800" cy="4351337"/>
          </a:xfrm>
          <a:prstGeom prst="rect">
            <a:avLst/>
          </a:prstGeom>
          <a:noFill/>
          <a:ln>
            <a:noFill/>
          </a:ln>
        </p:spPr>
        <p:txBody>
          <a:bodyPr anchorCtr="0" anchor="t" bIns="47950" lIns="95925" spcFirstLastPara="1" rIns="95925" wrap="square" tIns="4795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9185275"/>
            <a:ext cx="2986087" cy="484187"/>
          </a:xfrm>
          <a:prstGeom prst="rect">
            <a:avLst/>
          </a:prstGeom>
          <a:noFill/>
          <a:ln>
            <a:noFill/>
          </a:ln>
        </p:spPr>
        <p:txBody>
          <a:bodyPr anchorCtr="0" anchor="b" bIns="47950" lIns="95925" spcFirstLastPara="1" rIns="95925" wrap="square" tIns="4795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902075" y="9185275"/>
            <a:ext cx="2986087" cy="484187"/>
          </a:xfrm>
          <a:prstGeom prst="rect">
            <a:avLst/>
          </a:prstGeom>
          <a:noFill/>
          <a:ln>
            <a:noFill/>
          </a:ln>
        </p:spPr>
        <p:txBody>
          <a:bodyPr anchorCtr="0" anchor="b" bIns="47950" lIns="95925" spcFirstLastPara="1" rIns="95925" wrap="square" tIns="4795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114" name="Google Shape;114;p4: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122" name="Google Shape;122;p5: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130" name="Google Shape;130;p6: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138" name="Google Shape;138;p7: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8: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147" name="Google Shape;147;p8: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9: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155" name="Google Shape;155;p9: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0: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164" name="Google Shape;164;p10: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1: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172" name="Google Shape;172;p11: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2: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183" name="Google Shape;183;p12: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3: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191" name="Google Shape;191;p13: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4: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199" name="Google Shape;199;p14: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5: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207" name="Google Shape;207;p15: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6: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215" name="Google Shape;215;p16: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7: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223" name="Google Shape;223;p17: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8: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231" name="Google Shape;231;p18: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9: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244" name="Google Shape;244;p19: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15" name="Shape 15"/>
        <p:cNvGrpSpPr/>
        <p:nvPr/>
      </p:nvGrpSpPr>
      <p:grpSpPr>
        <a:xfrm>
          <a:off x="0" y="0"/>
          <a:ext cx="0" cy="0"/>
          <a:chOff x="0" y="0"/>
          <a:chExt cx="0" cy="0"/>
        </a:xfrm>
      </p:grpSpPr>
      <p:sp>
        <p:nvSpPr>
          <p:cNvPr id="16" name="Google Shape;16;p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21" name="Shape 21"/>
        <p:cNvGrpSpPr/>
        <p:nvPr/>
      </p:nvGrpSpPr>
      <p:grpSpPr>
        <a:xfrm>
          <a:off x="0" y="0"/>
          <a:ext cx="0" cy="0"/>
          <a:chOff x="0" y="0"/>
          <a:chExt cx="0" cy="0"/>
        </a:xfrm>
      </p:grpSpPr>
      <p:sp>
        <p:nvSpPr>
          <p:cNvPr id="22" name="Google Shape;22;p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26" name="Shape 26"/>
        <p:cNvGrpSpPr/>
        <p:nvPr/>
      </p:nvGrpSpPr>
      <p:grpSpPr>
        <a:xfrm>
          <a:off x="0" y="0"/>
          <a:ext cx="0" cy="0"/>
          <a:chOff x="0" y="0"/>
          <a:chExt cx="0" cy="0"/>
        </a:xfrm>
      </p:grpSpPr>
      <p:sp>
        <p:nvSpPr>
          <p:cNvPr id="27" name="Google Shape;27;p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is" type="vertTitleAndTx">
  <p:cSld name="VERTICAL_TITLE_AND_VERTICAL_TEXT">
    <p:spTree>
      <p:nvGrpSpPr>
        <p:cNvPr id="30" name="Shape 30"/>
        <p:cNvGrpSpPr/>
        <p:nvPr/>
      </p:nvGrpSpPr>
      <p:grpSpPr>
        <a:xfrm>
          <a:off x="0" y="0"/>
          <a:ext cx="0" cy="0"/>
          <a:chOff x="0" y="0"/>
          <a:chExt cx="0" cy="0"/>
        </a:xfrm>
      </p:grpSpPr>
      <p:sp>
        <p:nvSpPr>
          <p:cNvPr id="31" name="Google Shape;31;p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 name="Google Shape;32;p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3" name="Google Shape;33;p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36" name="Shape 36"/>
        <p:cNvGrpSpPr/>
        <p:nvPr/>
      </p:nvGrpSpPr>
      <p:grpSpPr>
        <a:xfrm>
          <a:off x="0" y="0"/>
          <a:ext cx="0" cy="0"/>
          <a:chOff x="0" y="0"/>
          <a:chExt cx="0" cy="0"/>
        </a:xfrm>
      </p:grpSpPr>
      <p:sp>
        <p:nvSpPr>
          <p:cNvPr id="37" name="Google Shape;37;p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6"/>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9" name="Google Shape;39;p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42" name="Shape 42"/>
        <p:cNvGrpSpPr/>
        <p:nvPr/>
      </p:nvGrpSpPr>
      <p:grpSpPr>
        <a:xfrm>
          <a:off x="0" y="0"/>
          <a:ext cx="0" cy="0"/>
          <a:chOff x="0" y="0"/>
          <a:chExt cx="0" cy="0"/>
        </a:xfrm>
      </p:grpSpPr>
      <p:sp>
        <p:nvSpPr>
          <p:cNvPr id="43" name="Google Shape;43;p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7"/>
          <p:cNvSpPr/>
          <p:nvPr>
            <p:ph idx="2" type="pic"/>
          </p:nvPr>
        </p:nvSpPr>
        <p:spPr>
          <a:xfrm>
            <a:off x="1792288" y="612775"/>
            <a:ext cx="5486400" cy="4114800"/>
          </a:xfrm>
          <a:prstGeom prst="rect">
            <a:avLst/>
          </a:prstGeom>
          <a:noFill/>
          <a:ln>
            <a:noFill/>
          </a:ln>
        </p:spPr>
      </p:sp>
      <p:sp>
        <p:nvSpPr>
          <p:cNvPr id="45" name="Google Shape;45;p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46" name="Google Shape;46;p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49" name="Shape 49"/>
        <p:cNvGrpSpPr/>
        <p:nvPr/>
      </p:nvGrpSpPr>
      <p:grpSpPr>
        <a:xfrm>
          <a:off x="0" y="0"/>
          <a:ext cx="0" cy="0"/>
          <a:chOff x="0" y="0"/>
          <a:chExt cx="0" cy="0"/>
        </a:xfrm>
      </p:grpSpPr>
      <p:sp>
        <p:nvSpPr>
          <p:cNvPr id="50" name="Google Shape;50;p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52" name="Google Shape;52;p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53" name="Google Shape;53;p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56" name="Shape 56"/>
        <p:cNvGrpSpPr/>
        <p:nvPr/>
      </p:nvGrpSpPr>
      <p:grpSpPr>
        <a:xfrm>
          <a:off x="0" y="0"/>
          <a:ext cx="0" cy="0"/>
          <a:chOff x="0" y="0"/>
          <a:chExt cx="0" cy="0"/>
        </a:xfrm>
      </p:grpSpPr>
      <p:sp>
        <p:nvSpPr>
          <p:cNvPr id="57" name="Google Shape;57;p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8" name="Google Shape;58;p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59" name="Google Shape;59;p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60" name="Google Shape;60;p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61" name="Google Shape;61;p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62" name="Google Shape;62;p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65" name="Shape 65"/>
        <p:cNvGrpSpPr/>
        <p:nvPr/>
      </p:nvGrpSpPr>
      <p:grpSpPr>
        <a:xfrm>
          <a:off x="0" y="0"/>
          <a:ext cx="0" cy="0"/>
          <a:chOff x="0" y="0"/>
          <a:chExt cx="0" cy="0"/>
        </a:xfrm>
      </p:grpSpPr>
      <p:sp>
        <p:nvSpPr>
          <p:cNvPr id="66" name="Google Shape;66;p1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1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68" name="Google Shape;68;p1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69" name="Google Shape;69;p1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72" name="Shape 72"/>
        <p:cNvGrpSpPr/>
        <p:nvPr/>
      </p:nvGrpSpPr>
      <p:grpSpPr>
        <a:xfrm>
          <a:off x="0" y="0"/>
          <a:ext cx="0" cy="0"/>
          <a:chOff x="0" y="0"/>
          <a:chExt cx="0" cy="0"/>
        </a:xfrm>
      </p:grpSpPr>
      <p:sp>
        <p:nvSpPr>
          <p:cNvPr id="73" name="Google Shape;73;p1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1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75" name="Google Shape;75;p1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spTree>
      <p:nvGrpSpPr>
        <p:cNvPr id="78" name="Shape 78"/>
        <p:cNvGrpSpPr/>
        <p:nvPr/>
      </p:nvGrpSpPr>
      <p:grpSpPr>
        <a:xfrm>
          <a:off x="0" y="0"/>
          <a:ext cx="0" cy="0"/>
          <a:chOff x="0" y="0"/>
          <a:chExt cx="0" cy="0"/>
        </a:xfrm>
      </p:grpSpPr>
      <p:sp>
        <p:nvSpPr>
          <p:cNvPr id="79" name="Google Shape;79;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Arial"/>
              <a:buNone/>
              <a:defRPr/>
            </a:lvl1pPr>
            <a:lvl2pPr lvl="1" algn="ctr">
              <a:spcBef>
                <a:spcPts val="560"/>
              </a:spcBef>
              <a:spcAft>
                <a:spcPts val="0"/>
              </a:spcAft>
              <a:buClr>
                <a:schemeClr val="dk1"/>
              </a:buClr>
              <a:buSzPts val="2800"/>
              <a:buFont typeface="Arial"/>
              <a:buNone/>
              <a:defRPr/>
            </a:lvl2pPr>
            <a:lvl3pPr lvl="2" algn="ctr">
              <a:spcBef>
                <a:spcPts val="480"/>
              </a:spcBef>
              <a:spcAft>
                <a:spcPts val="0"/>
              </a:spcAft>
              <a:buClr>
                <a:schemeClr val="dk1"/>
              </a:buClr>
              <a:buSzPts val="24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p:txBody>
      </p:sp>
      <p:sp>
        <p:nvSpPr>
          <p:cNvPr id="81" name="Google Shape;81;p1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1" name="Google Shape;11;p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jp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nvSpPr>
        <p:spPr>
          <a:xfrm>
            <a:off x="1692275" y="18891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Arial"/>
              <a:buNone/>
            </a:pPr>
            <a:r>
              <a:rPr b="1" i="0" lang="en-US" sz="3600" u="none" cap="none" strike="noStrike">
                <a:solidFill>
                  <a:schemeClr val="dk1"/>
                </a:solidFill>
                <a:latin typeface="Arial"/>
                <a:ea typeface="Arial"/>
                <a:cs typeface="Arial"/>
                <a:sym typeface="Arial"/>
              </a:rPr>
              <a:t>Aprendizado de Máquina</a:t>
            </a:r>
            <a:endParaRPr/>
          </a:p>
        </p:txBody>
      </p:sp>
      <p:sp>
        <p:nvSpPr>
          <p:cNvPr id="89" name="Google Shape;89;p13"/>
          <p:cNvSpPr txBox="1"/>
          <p:nvPr/>
        </p:nvSpPr>
        <p:spPr>
          <a:xfrm>
            <a:off x="317500" y="6264275"/>
            <a:ext cx="8512175" cy="458787"/>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Prof. Sérgio Ricardo Rota           pf0112@fiap.com.br           </a:t>
            </a:r>
            <a:r>
              <a:rPr b="1" i="0" lang="en-US" sz="1800" u="none" cap="none" strike="noStrike">
                <a:solidFill>
                  <a:srgbClr val="FF3300"/>
                </a:solidFill>
                <a:latin typeface="Arial"/>
                <a:ea typeface="Arial"/>
                <a:cs typeface="Arial"/>
                <a:sym typeface="Arial"/>
              </a:rPr>
              <a:t>www.fiap.com.br</a:t>
            </a:r>
            <a:endParaRPr/>
          </a:p>
        </p:txBody>
      </p:sp>
      <p:pic>
        <p:nvPicPr>
          <p:cNvPr descr="logo fiap novo 2" id="90" name="Google Shape;90;p13"/>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91" name="Google Shape;91;p13"/>
          <p:cNvSpPr txBox="1"/>
          <p:nvPr/>
        </p:nvSpPr>
        <p:spPr>
          <a:xfrm>
            <a:off x="315912" y="1654175"/>
            <a:ext cx="8512175" cy="25542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000"/>
              <a:buFont typeface="Arial"/>
              <a:buNone/>
            </a:pPr>
            <a:r>
              <a:rPr b="1" i="0" lang="en-US" sz="4000" u="none" cap="none" strike="noStrike">
                <a:solidFill>
                  <a:schemeClr val="dk1"/>
                </a:solidFill>
                <a:latin typeface="Arial"/>
                <a:ea typeface="Arial"/>
                <a:cs typeface="Arial"/>
                <a:sym typeface="Arial"/>
              </a:rPr>
              <a:t>Introdução</a:t>
            </a:r>
            <a:endParaRPr/>
          </a:p>
          <a:p>
            <a:pPr indent="0" lvl="0" marL="0" marR="0" rtl="0" algn="just">
              <a:lnSpc>
                <a:spcPct val="100000"/>
              </a:lnSpc>
              <a:spcBef>
                <a:spcPts val="320"/>
              </a:spcBef>
              <a:spcAft>
                <a:spcPts val="0"/>
              </a:spcAft>
              <a:buClr>
                <a:schemeClr val="dk1"/>
              </a:buClr>
              <a:buSzPts val="16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56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INTELIGÊNCIA ARTIFICIAL</a:t>
            </a:r>
            <a:endParaRPr/>
          </a:p>
          <a:p>
            <a:pPr indent="0" lvl="0" marL="0" marR="0" rtl="0" algn="l">
              <a:lnSpc>
                <a:spcPct val="100000"/>
              </a:lnSpc>
              <a:spcBef>
                <a:spcPts val="56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APRENDIZADO DE MÁQUINA</a:t>
            </a:r>
            <a:endParaRPr/>
          </a:p>
          <a:p>
            <a:pPr indent="0" lvl="0" marL="0" marR="0" rtl="0" algn="l">
              <a:lnSpc>
                <a:spcPct val="100000"/>
              </a:lnSpc>
              <a:spcBef>
                <a:spcPts val="56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APRENDIZADO PROFUNDO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4"/>
          <p:cNvSpPr txBox="1"/>
          <p:nvPr/>
        </p:nvSpPr>
        <p:spPr>
          <a:xfrm>
            <a:off x="315912" y="1447800"/>
            <a:ext cx="8512200" cy="4684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accent2"/>
              </a:buClr>
              <a:buSzPts val="2600"/>
              <a:buFont typeface="Arial"/>
              <a:buNone/>
            </a:pPr>
            <a:r>
              <a:rPr b="1" i="0" lang="en-US" sz="2800" u="sng" cap="none" strike="noStrike">
                <a:solidFill>
                  <a:schemeClr val="accent2"/>
                </a:solidFill>
                <a:latin typeface="Arial"/>
                <a:ea typeface="Arial"/>
                <a:cs typeface="Arial"/>
                <a:sym typeface="Arial"/>
              </a:rPr>
              <a:t>Inteligência Artificial</a:t>
            </a:r>
            <a:r>
              <a:rPr b="1" i="0" lang="en-US" sz="2800" u="none" cap="none" strike="noStrike">
                <a:solidFill>
                  <a:schemeClr val="dk1"/>
                </a:solidFill>
                <a:latin typeface="Arial"/>
                <a:ea typeface="Arial"/>
                <a:cs typeface="Arial"/>
                <a:sym typeface="Arial"/>
              </a:rPr>
              <a:t> (</a:t>
            </a:r>
            <a:r>
              <a:rPr b="1" i="0" lang="en-US" sz="2800" u="sng" cap="none" strike="noStrike">
                <a:solidFill>
                  <a:schemeClr val="accent2"/>
                </a:solidFill>
                <a:latin typeface="Arial"/>
                <a:ea typeface="Arial"/>
                <a:cs typeface="Arial"/>
                <a:sym typeface="Arial"/>
              </a:rPr>
              <a:t>IA</a:t>
            </a:r>
            <a:r>
              <a:rPr b="1" i="0" lang="en-US" sz="2800" u="none" cap="none" strike="noStrike">
                <a:solidFill>
                  <a:schemeClr val="dk1"/>
                </a:solidFill>
                <a:latin typeface="Arial"/>
                <a:ea typeface="Arial"/>
                <a:cs typeface="Arial"/>
                <a:sym typeface="Arial"/>
              </a:rPr>
              <a:t>) (</a:t>
            </a:r>
            <a:r>
              <a:rPr b="1" i="0" lang="en-US" sz="2800" u="sng" cap="none" strike="noStrike">
                <a:solidFill>
                  <a:schemeClr val="accent2"/>
                </a:solidFill>
                <a:latin typeface="Arial"/>
                <a:ea typeface="Arial"/>
                <a:cs typeface="Arial"/>
                <a:sym typeface="Arial"/>
              </a:rPr>
              <a:t>AI – </a:t>
            </a:r>
            <a:r>
              <a:rPr b="1" i="1" lang="en-US" sz="2800" u="sng" cap="none" strike="noStrike">
                <a:solidFill>
                  <a:schemeClr val="accent2"/>
                </a:solidFill>
                <a:latin typeface="Arial"/>
                <a:ea typeface="Arial"/>
                <a:cs typeface="Arial"/>
                <a:sym typeface="Arial"/>
              </a:rPr>
              <a:t>Artificial Intelligence</a:t>
            </a:r>
            <a:r>
              <a:rPr b="1" i="0" lang="en-US" sz="2800" u="none" cap="none" strike="noStrike">
                <a:solidFill>
                  <a:schemeClr val="dk1"/>
                </a:solidFill>
                <a:latin typeface="Arial"/>
                <a:ea typeface="Arial"/>
                <a:cs typeface="Arial"/>
                <a:sym typeface="Arial"/>
              </a:rPr>
              <a:t>) é um campo da ciência da computação relacionado ao desenvolvimento de sistemas computacionais capazes de reproduzir o comportamento humano na tomada de decisões e na realização de tarefas</a:t>
            </a:r>
            <a:r>
              <a:rPr b="1" lang="en-US" sz="2700">
                <a:solidFill>
                  <a:schemeClr val="dk1"/>
                </a:solidFill>
              </a:rPr>
              <a:t> – </a:t>
            </a:r>
            <a:r>
              <a:rPr b="1" i="0" lang="en-US" sz="2800" u="none" cap="none" strike="noStrike">
                <a:solidFill>
                  <a:schemeClr val="dk1"/>
                </a:solidFill>
                <a:latin typeface="Arial"/>
                <a:ea typeface="Arial"/>
                <a:cs typeface="Arial"/>
                <a:sym typeface="Arial"/>
              </a:rPr>
              <a:t>das mais simples às mais complexas.</a:t>
            </a:r>
            <a:endParaRPr sz="2800"/>
          </a:p>
          <a:p>
            <a:pPr indent="0" lvl="0" marL="0" marR="0" rtl="0" algn="just">
              <a:lnSpc>
                <a:spcPct val="100000"/>
              </a:lnSpc>
              <a:spcBef>
                <a:spcPts val="240"/>
              </a:spcBef>
              <a:spcAft>
                <a:spcPts val="0"/>
              </a:spcAft>
              <a:buClr>
                <a:schemeClr val="dk1"/>
              </a:buClr>
              <a:buSzPts val="1200"/>
              <a:buFont typeface="Arial"/>
              <a:buNone/>
            </a:pPr>
            <a:r>
              <a:t/>
            </a:r>
            <a:endParaRPr b="1" i="0" sz="1200" u="none" cap="none" strike="noStrike">
              <a:solidFill>
                <a:schemeClr val="dk1"/>
              </a:solidFill>
              <a:latin typeface="Arial"/>
              <a:ea typeface="Arial"/>
              <a:cs typeface="Arial"/>
              <a:sym typeface="Arial"/>
            </a:endParaRPr>
          </a:p>
          <a:p>
            <a:pPr indent="0" lvl="0" marL="0" marR="0" rtl="0" algn="just">
              <a:lnSpc>
                <a:spcPct val="100000"/>
              </a:lnSpc>
              <a:spcBef>
                <a:spcPts val="520"/>
              </a:spcBef>
              <a:spcAft>
                <a:spcPts val="0"/>
              </a:spcAft>
              <a:buClr>
                <a:schemeClr val="dk1"/>
              </a:buClr>
              <a:buSzPts val="2600"/>
              <a:buFont typeface="Arial"/>
              <a:buNone/>
            </a:pPr>
            <a:r>
              <a:rPr b="1" i="0" lang="en-US" sz="2800" u="none" cap="none" strike="noStrike">
                <a:solidFill>
                  <a:schemeClr val="dk1"/>
                </a:solidFill>
                <a:latin typeface="Arial"/>
                <a:ea typeface="Arial"/>
                <a:cs typeface="Arial"/>
                <a:sym typeface="Arial"/>
              </a:rPr>
              <a:t>A IA é capaz de aprender com os dados e melhorar sua precisão ao longo do tempo, tornando-se cada vez mais eficiente e precisa.</a:t>
            </a:r>
            <a:endParaRPr sz="2800"/>
          </a:p>
        </p:txBody>
      </p:sp>
      <p:sp>
        <p:nvSpPr>
          <p:cNvPr id="97" name="Google Shape;97;p14"/>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2</a:t>
            </a:r>
            <a:endParaRPr/>
          </a:p>
        </p:txBody>
      </p:sp>
      <p:sp>
        <p:nvSpPr>
          <p:cNvPr id="98" name="Google Shape;98;p14"/>
          <p:cNvSpPr txBox="1"/>
          <p:nvPr/>
        </p:nvSpPr>
        <p:spPr>
          <a:xfrm>
            <a:off x="1692275" y="18891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Inteligência Artificial (IA)</a:t>
            </a:r>
            <a:endParaRPr/>
          </a:p>
        </p:txBody>
      </p:sp>
      <p:pic>
        <p:nvPicPr>
          <p:cNvPr descr="logo fiap novo 2" id="99" name="Google Shape;99;p14"/>
          <p:cNvPicPr preferRelativeResize="0"/>
          <p:nvPr/>
        </p:nvPicPr>
        <p:blipFill rotWithShape="1">
          <a:blip r:embed="rId3">
            <a:alphaModFix/>
          </a:blip>
          <a:srcRect b="0" l="0" r="0" t="0"/>
          <a:stretch/>
        </p:blipFill>
        <p:spPr>
          <a:xfrm>
            <a:off x="0" y="0"/>
            <a:ext cx="1547812" cy="126841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15"/>
          <p:cNvPicPr preferRelativeResize="0"/>
          <p:nvPr/>
        </p:nvPicPr>
        <p:blipFill rotWithShape="1">
          <a:blip r:embed="rId3">
            <a:alphaModFix/>
          </a:blip>
          <a:srcRect b="0" l="0" r="0" t="0"/>
          <a:stretch/>
        </p:blipFill>
        <p:spPr>
          <a:xfrm>
            <a:off x="503237" y="360362"/>
            <a:ext cx="3821112" cy="2857500"/>
          </a:xfrm>
          <a:prstGeom prst="rect">
            <a:avLst/>
          </a:prstGeom>
          <a:noFill/>
          <a:ln>
            <a:noFill/>
          </a:ln>
        </p:spPr>
      </p:pic>
      <p:pic>
        <p:nvPicPr>
          <p:cNvPr id="105" name="Google Shape;105;p15"/>
          <p:cNvPicPr preferRelativeResize="0"/>
          <p:nvPr/>
        </p:nvPicPr>
        <p:blipFill rotWithShape="1">
          <a:blip r:embed="rId4">
            <a:alphaModFix/>
          </a:blip>
          <a:srcRect b="0" l="0" r="0" t="0"/>
          <a:stretch/>
        </p:blipFill>
        <p:spPr>
          <a:xfrm>
            <a:off x="5148262" y="631825"/>
            <a:ext cx="3476625" cy="2314575"/>
          </a:xfrm>
          <a:prstGeom prst="rect">
            <a:avLst/>
          </a:prstGeom>
          <a:noFill/>
          <a:ln>
            <a:noFill/>
          </a:ln>
        </p:spPr>
      </p:pic>
      <p:pic>
        <p:nvPicPr>
          <p:cNvPr id="106" name="Google Shape;106;p15"/>
          <p:cNvPicPr preferRelativeResize="0"/>
          <p:nvPr/>
        </p:nvPicPr>
        <p:blipFill rotWithShape="1">
          <a:blip r:embed="rId5">
            <a:alphaModFix/>
          </a:blip>
          <a:srcRect b="0" l="0" r="0" t="0"/>
          <a:stretch/>
        </p:blipFill>
        <p:spPr>
          <a:xfrm>
            <a:off x="179387" y="3959225"/>
            <a:ext cx="4114800" cy="2316162"/>
          </a:xfrm>
          <a:prstGeom prst="rect">
            <a:avLst/>
          </a:prstGeom>
          <a:noFill/>
          <a:ln>
            <a:noFill/>
          </a:ln>
        </p:spPr>
      </p:pic>
      <p:pic>
        <p:nvPicPr>
          <p:cNvPr descr="Pessoas olhando para a câmera&#10;&#10;O conteúdo gerado por IA pode estar incorreto." id="107" name="Google Shape;107;p15"/>
          <p:cNvPicPr preferRelativeResize="0"/>
          <p:nvPr/>
        </p:nvPicPr>
        <p:blipFill rotWithShape="1">
          <a:blip r:embed="rId6">
            <a:alphaModFix/>
          </a:blip>
          <a:srcRect b="0" l="0" r="0" t="0"/>
          <a:stretch/>
        </p:blipFill>
        <p:spPr>
          <a:xfrm>
            <a:off x="5603875" y="3429000"/>
            <a:ext cx="2479675" cy="3305175"/>
          </a:xfrm>
          <a:prstGeom prst="rect">
            <a:avLst/>
          </a:prstGeom>
          <a:noFill/>
          <a:ln>
            <a:noFill/>
          </a:ln>
        </p:spPr>
      </p:pic>
      <p:sp>
        <p:nvSpPr>
          <p:cNvPr id="108" name="Google Shape;108;p15"/>
          <p:cNvSpPr txBox="1"/>
          <p:nvPr/>
        </p:nvSpPr>
        <p:spPr>
          <a:xfrm>
            <a:off x="360362" y="3319462"/>
            <a:ext cx="3722687" cy="4000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Homem Bicentenário</a:t>
            </a:r>
            <a:endParaRPr/>
          </a:p>
        </p:txBody>
      </p:sp>
      <p:sp>
        <p:nvSpPr>
          <p:cNvPr id="109" name="Google Shape;109;p15"/>
          <p:cNvSpPr txBox="1"/>
          <p:nvPr/>
        </p:nvSpPr>
        <p:spPr>
          <a:xfrm>
            <a:off x="5040312" y="3041650"/>
            <a:ext cx="3722687" cy="4000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A.I. – Inteligência Artificial</a:t>
            </a:r>
            <a:endParaRPr/>
          </a:p>
        </p:txBody>
      </p:sp>
      <p:sp>
        <p:nvSpPr>
          <p:cNvPr id="110" name="Google Shape;110;p15"/>
          <p:cNvSpPr txBox="1"/>
          <p:nvPr/>
        </p:nvSpPr>
        <p:spPr>
          <a:xfrm>
            <a:off x="360362" y="6372225"/>
            <a:ext cx="3722687" cy="4000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Ela</a:t>
            </a:r>
            <a:endParaRPr/>
          </a:p>
        </p:txBody>
      </p:sp>
      <p:sp>
        <p:nvSpPr>
          <p:cNvPr id="111" name="Google Shape;111;p15"/>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6"/>
          <p:cNvSpPr txBox="1"/>
          <p:nvPr/>
        </p:nvSpPr>
        <p:spPr>
          <a:xfrm>
            <a:off x="315912" y="1447800"/>
            <a:ext cx="8512200" cy="1816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Arial"/>
              <a:buNone/>
            </a:pPr>
            <a:r>
              <a:rPr b="1" i="0" lang="en-US" sz="2800" u="none" cap="none" strike="noStrike">
                <a:solidFill>
                  <a:schemeClr val="dk1"/>
                </a:solidFill>
                <a:latin typeface="Arial"/>
                <a:ea typeface="Arial"/>
                <a:cs typeface="Arial"/>
                <a:sym typeface="Arial"/>
              </a:rPr>
              <a:t>O </a:t>
            </a:r>
            <a:r>
              <a:rPr b="1" i="0" lang="en-US" sz="2800" u="sng" cap="none" strike="noStrike">
                <a:solidFill>
                  <a:schemeClr val="accent2"/>
                </a:solidFill>
                <a:latin typeface="Arial"/>
                <a:ea typeface="Arial"/>
                <a:cs typeface="Arial"/>
                <a:sym typeface="Arial"/>
              </a:rPr>
              <a:t>Teste de Turing</a:t>
            </a:r>
            <a:r>
              <a:rPr b="1" i="0" lang="en-US" sz="2800" u="none" cap="none" strike="noStrike">
                <a:solidFill>
                  <a:schemeClr val="dk1"/>
                </a:solidFill>
                <a:latin typeface="Arial"/>
                <a:ea typeface="Arial"/>
                <a:cs typeface="Arial"/>
                <a:sym typeface="Arial"/>
              </a:rPr>
              <a:t> testa a capacidade de um computador exibir comportamento inteligente, equivalente ao de um ser humano, ou indistinguível deste.</a:t>
            </a:r>
            <a:endParaRPr sz="2800"/>
          </a:p>
        </p:txBody>
      </p:sp>
      <p:sp>
        <p:nvSpPr>
          <p:cNvPr id="117" name="Google Shape;117;p16"/>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4</a:t>
            </a:r>
            <a:endParaRPr/>
          </a:p>
        </p:txBody>
      </p:sp>
      <p:sp>
        <p:nvSpPr>
          <p:cNvPr id="118" name="Google Shape;118;p16"/>
          <p:cNvSpPr txBox="1"/>
          <p:nvPr/>
        </p:nvSpPr>
        <p:spPr>
          <a:xfrm>
            <a:off x="1692275" y="18891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Teste de Turing</a:t>
            </a:r>
            <a:endParaRPr/>
          </a:p>
        </p:txBody>
      </p:sp>
      <p:pic>
        <p:nvPicPr>
          <p:cNvPr descr="logo fiap novo 2" id="119" name="Google Shape;119;p16"/>
          <p:cNvPicPr preferRelativeResize="0"/>
          <p:nvPr/>
        </p:nvPicPr>
        <p:blipFill rotWithShape="1">
          <a:blip r:embed="rId3">
            <a:alphaModFix/>
          </a:blip>
          <a:srcRect b="0" l="0" r="0" t="0"/>
          <a:stretch/>
        </p:blipFill>
        <p:spPr>
          <a:xfrm>
            <a:off x="0" y="0"/>
            <a:ext cx="1547812" cy="126841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descr="Diagrama&#10;&#10;Descrição gerada automaticamente" id="124" name="Google Shape;124;p17"/>
          <p:cNvPicPr preferRelativeResize="0"/>
          <p:nvPr/>
        </p:nvPicPr>
        <p:blipFill rotWithShape="1">
          <a:blip r:embed="rId3">
            <a:alphaModFix/>
          </a:blip>
          <a:srcRect b="0" l="0" r="0" t="0"/>
          <a:stretch/>
        </p:blipFill>
        <p:spPr>
          <a:xfrm>
            <a:off x="2444750" y="1295400"/>
            <a:ext cx="4254500" cy="5446712"/>
          </a:xfrm>
          <a:prstGeom prst="rect">
            <a:avLst/>
          </a:prstGeom>
          <a:noFill/>
          <a:ln>
            <a:noFill/>
          </a:ln>
        </p:spPr>
      </p:pic>
      <p:sp>
        <p:nvSpPr>
          <p:cNvPr id="125" name="Google Shape;125;p17"/>
          <p:cNvSpPr txBox="1"/>
          <p:nvPr/>
        </p:nvSpPr>
        <p:spPr>
          <a:xfrm>
            <a:off x="1692275" y="18891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Teste de Turing</a:t>
            </a:r>
            <a:endParaRPr/>
          </a:p>
        </p:txBody>
      </p:sp>
      <p:pic>
        <p:nvPicPr>
          <p:cNvPr descr="logo fiap novo 2" id="126" name="Google Shape;126;p17"/>
          <p:cNvPicPr preferRelativeResize="0"/>
          <p:nvPr/>
        </p:nvPicPr>
        <p:blipFill rotWithShape="1">
          <a:blip r:embed="rId4">
            <a:alphaModFix/>
          </a:blip>
          <a:srcRect b="0" l="0" r="0" t="0"/>
          <a:stretch/>
        </p:blipFill>
        <p:spPr>
          <a:xfrm>
            <a:off x="0" y="0"/>
            <a:ext cx="1547812" cy="1268412"/>
          </a:xfrm>
          <a:prstGeom prst="rect">
            <a:avLst/>
          </a:prstGeom>
          <a:noFill/>
          <a:ln>
            <a:noFill/>
          </a:ln>
        </p:spPr>
      </p:pic>
      <p:sp>
        <p:nvSpPr>
          <p:cNvPr id="127" name="Google Shape;127;p17"/>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8"/>
          <p:cNvSpPr txBox="1"/>
          <p:nvPr/>
        </p:nvSpPr>
        <p:spPr>
          <a:xfrm>
            <a:off x="315912" y="1447800"/>
            <a:ext cx="8512200" cy="3540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O teste foi proposto por Alan Turing, em 1950, no artigo “Computing Machinery and Intelligence”, que começa com as palavras: “Eu proponho considerar a questão ‘As máquinas podem pensar?’”.</a:t>
            </a:r>
            <a:r>
              <a:rPr b="1" lang="en-US" sz="2800">
                <a:solidFill>
                  <a:schemeClr val="dk1"/>
                </a:solidFill>
              </a:rPr>
              <a:t> </a:t>
            </a:r>
            <a:r>
              <a:rPr b="1" i="0" lang="en-US" sz="2800" u="none" cap="none" strike="noStrike">
                <a:solidFill>
                  <a:schemeClr val="dk1"/>
                </a:solidFill>
                <a:latin typeface="Arial"/>
                <a:ea typeface="Arial"/>
                <a:cs typeface="Arial"/>
                <a:sym typeface="Arial"/>
              </a:rPr>
              <a:t>Como “pensar” é difícil de definir, Turing preferiu substituir a pergunta por “Há como imaginar um computador digital que faria bem o ‘jogo da imitação?’”.</a:t>
            </a:r>
            <a:endParaRPr/>
          </a:p>
        </p:txBody>
      </p:sp>
      <p:sp>
        <p:nvSpPr>
          <p:cNvPr id="133" name="Google Shape;133;p18"/>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6</a:t>
            </a:r>
            <a:endParaRPr/>
          </a:p>
        </p:txBody>
      </p:sp>
      <p:sp>
        <p:nvSpPr>
          <p:cNvPr id="134" name="Google Shape;134;p18"/>
          <p:cNvSpPr txBox="1"/>
          <p:nvPr/>
        </p:nvSpPr>
        <p:spPr>
          <a:xfrm>
            <a:off x="1692275" y="18891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Teste de Turing</a:t>
            </a:r>
            <a:endParaRPr/>
          </a:p>
        </p:txBody>
      </p:sp>
      <p:pic>
        <p:nvPicPr>
          <p:cNvPr descr="logo fiap novo 2" id="135" name="Google Shape;135;p18"/>
          <p:cNvPicPr preferRelativeResize="0"/>
          <p:nvPr/>
        </p:nvPicPr>
        <p:blipFill rotWithShape="1">
          <a:blip r:embed="rId3">
            <a:alphaModFix/>
          </a:blip>
          <a:srcRect b="0" l="0" r="0" t="0"/>
          <a:stretch/>
        </p:blipFill>
        <p:spPr>
          <a:xfrm>
            <a:off x="0" y="0"/>
            <a:ext cx="1547812" cy="126841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descr="Homem de terno e gravata com pessoas ao redor&#10;&#10;O conteúdo gerado por IA pode estar incorreto." id="140" name="Google Shape;140;p19"/>
          <p:cNvPicPr preferRelativeResize="0"/>
          <p:nvPr/>
        </p:nvPicPr>
        <p:blipFill rotWithShape="1">
          <a:blip r:embed="rId3">
            <a:alphaModFix/>
          </a:blip>
          <a:srcRect b="0" l="0" r="0" t="0"/>
          <a:stretch/>
        </p:blipFill>
        <p:spPr>
          <a:xfrm>
            <a:off x="36513" y="1331912"/>
            <a:ext cx="9070976" cy="5103812"/>
          </a:xfrm>
          <a:prstGeom prst="rect">
            <a:avLst/>
          </a:prstGeom>
          <a:noFill/>
          <a:ln>
            <a:noFill/>
          </a:ln>
        </p:spPr>
      </p:pic>
      <p:sp>
        <p:nvSpPr>
          <p:cNvPr id="141" name="Google Shape;141;p19"/>
          <p:cNvSpPr txBox="1"/>
          <p:nvPr/>
        </p:nvSpPr>
        <p:spPr>
          <a:xfrm>
            <a:off x="315912" y="6400800"/>
            <a:ext cx="85122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Cena do filme “The Imitation Game”.</a:t>
            </a:r>
            <a:endParaRPr/>
          </a:p>
        </p:txBody>
      </p:sp>
      <p:sp>
        <p:nvSpPr>
          <p:cNvPr id="142" name="Google Shape;142;p19"/>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7</a:t>
            </a:r>
            <a:endParaRPr/>
          </a:p>
        </p:txBody>
      </p:sp>
      <p:pic>
        <p:nvPicPr>
          <p:cNvPr descr="logo fiap novo 2" id="143" name="Google Shape;143;p19"/>
          <p:cNvPicPr preferRelativeResize="0"/>
          <p:nvPr/>
        </p:nvPicPr>
        <p:blipFill rotWithShape="1">
          <a:blip r:embed="rId4">
            <a:alphaModFix/>
          </a:blip>
          <a:srcRect b="0" l="0" r="0" t="0"/>
          <a:stretch/>
        </p:blipFill>
        <p:spPr>
          <a:xfrm>
            <a:off x="0" y="0"/>
            <a:ext cx="1547812" cy="1268412"/>
          </a:xfrm>
          <a:prstGeom prst="rect">
            <a:avLst/>
          </a:prstGeom>
          <a:noFill/>
          <a:ln>
            <a:noFill/>
          </a:ln>
        </p:spPr>
      </p:pic>
      <p:sp>
        <p:nvSpPr>
          <p:cNvPr id="144" name="Google Shape;144;p19"/>
          <p:cNvSpPr txBox="1"/>
          <p:nvPr/>
        </p:nvSpPr>
        <p:spPr>
          <a:xfrm>
            <a:off x="1692275" y="18891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Teste de Turing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0"/>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8</a:t>
            </a:r>
            <a:endParaRPr/>
          </a:p>
        </p:txBody>
      </p:sp>
      <p:sp>
        <p:nvSpPr>
          <p:cNvPr id="150" name="Google Shape;150;p20"/>
          <p:cNvSpPr txBox="1"/>
          <p:nvPr/>
        </p:nvSpPr>
        <p:spPr>
          <a:xfrm>
            <a:off x="315912" y="1447800"/>
            <a:ext cx="8512200" cy="54951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600"/>
              <a:buFont typeface="Arial"/>
              <a:buNone/>
            </a:pPr>
            <a:r>
              <a:rPr b="1" i="0" lang="en-US" sz="2700" u="none" cap="none" strike="noStrike">
                <a:solidFill>
                  <a:schemeClr val="dk1"/>
                </a:solidFill>
                <a:latin typeface="Arial"/>
                <a:ea typeface="Arial"/>
                <a:cs typeface="Arial"/>
                <a:sym typeface="Arial"/>
              </a:rPr>
              <a:t>Aplicações de IA incluem mecanismos de busca na Web (Google Search), sistemas de recomendação (YouTube, Amazon e Netflix), assistentes virtuais (Alexa), veículos autônomos (Tesla), ferramentas generativas e criativas (ChatGPT, Gemini e Copilot) e jogos de estratégia (xadrez). No entanto, muitas aplicações de IA não são reconhecidas como tal, pois já se tornaram comuns no dia a dia das pessoas; como, por exemplo, reconhecimento óptico de caracteres (OCR – </a:t>
            </a:r>
            <a:r>
              <a:rPr b="1" i="1" lang="en-US" sz="2700" u="none" cap="none" strike="noStrike">
                <a:solidFill>
                  <a:schemeClr val="dk1"/>
                </a:solidFill>
                <a:latin typeface="Arial"/>
                <a:ea typeface="Arial"/>
                <a:cs typeface="Arial"/>
                <a:sym typeface="Arial"/>
              </a:rPr>
              <a:t>Optical Character Recognition</a:t>
            </a:r>
            <a:r>
              <a:rPr b="1" i="0" lang="en-US" sz="2700" u="none" cap="none" strike="noStrike">
                <a:solidFill>
                  <a:schemeClr val="dk1"/>
                </a:solidFill>
                <a:latin typeface="Arial"/>
                <a:ea typeface="Arial"/>
                <a:cs typeface="Arial"/>
                <a:sym typeface="Arial"/>
              </a:rPr>
              <a:t>), transformando dados não estruturados em dados estruturados.</a:t>
            </a:r>
            <a:endParaRPr sz="2700"/>
          </a:p>
        </p:txBody>
      </p:sp>
      <p:sp>
        <p:nvSpPr>
          <p:cNvPr id="151" name="Google Shape;151;p20"/>
          <p:cNvSpPr txBox="1"/>
          <p:nvPr/>
        </p:nvSpPr>
        <p:spPr>
          <a:xfrm>
            <a:off x="1692275" y="18891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Aplicações de IA</a:t>
            </a:r>
            <a:endParaRPr/>
          </a:p>
        </p:txBody>
      </p:sp>
      <p:pic>
        <p:nvPicPr>
          <p:cNvPr descr="logo fiap novo 2" id="152" name="Google Shape;152;p20"/>
          <p:cNvPicPr preferRelativeResize="0"/>
          <p:nvPr/>
        </p:nvPicPr>
        <p:blipFill rotWithShape="1">
          <a:blip r:embed="rId3">
            <a:alphaModFix/>
          </a:blip>
          <a:srcRect b="0" l="0" r="0" t="0"/>
          <a:stretch/>
        </p:blipFill>
        <p:spPr>
          <a:xfrm>
            <a:off x="0" y="0"/>
            <a:ext cx="1547812" cy="126841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1"/>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9</a:t>
            </a:r>
            <a:endParaRPr/>
          </a:p>
        </p:txBody>
      </p:sp>
      <p:sp>
        <p:nvSpPr>
          <p:cNvPr id="158" name="Google Shape;158;p21"/>
          <p:cNvSpPr txBox="1"/>
          <p:nvPr/>
        </p:nvSpPr>
        <p:spPr>
          <a:xfrm>
            <a:off x="1692275" y="18891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Aplicações de IA</a:t>
            </a:r>
            <a:endParaRPr/>
          </a:p>
        </p:txBody>
      </p:sp>
      <p:pic>
        <p:nvPicPr>
          <p:cNvPr descr="logo fiap novo 2" id="159" name="Google Shape;159;p21"/>
          <p:cNvPicPr preferRelativeResize="0"/>
          <p:nvPr/>
        </p:nvPicPr>
        <p:blipFill rotWithShape="1">
          <a:blip r:embed="rId3">
            <a:alphaModFix/>
          </a:blip>
          <a:srcRect b="0" l="0" r="0" t="0"/>
          <a:stretch/>
        </p:blipFill>
        <p:spPr>
          <a:xfrm>
            <a:off x="0" y="0"/>
            <a:ext cx="1547812" cy="1268412"/>
          </a:xfrm>
          <a:prstGeom prst="rect">
            <a:avLst/>
          </a:prstGeom>
          <a:noFill/>
          <a:ln>
            <a:noFill/>
          </a:ln>
        </p:spPr>
      </p:pic>
      <p:pic>
        <p:nvPicPr>
          <p:cNvPr id="160" name="Google Shape;160;p21"/>
          <p:cNvPicPr preferRelativeResize="0"/>
          <p:nvPr/>
        </p:nvPicPr>
        <p:blipFill rotWithShape="1">
          <a:blip r:embed="rId4">
            <a:alphaModFix/>
          </a:blip>
          <a:srcRect b="0" l="0" r="0" t="0"/>
          <a:stretch/>
        </p:blipFill>
        <p:spPr>
          <a:xfrm>
            <a:off x="1547812" y="1565275"/>
            <a:ext cx="6096000" cy="2800350"/>
          </a:xfrm>
          <a:prstGeom prst="rect">
            <a:avLst/>
          </a:prstGeom>
          <a:noFill/>
          <a:ln>
            <a:noFill/>
          </a:ln>
        </p:spPr>
      </p:pic>
      <p:sp>
        <p:nvSpPr>
          <p:cNvPr id="161" name="Google Shape;161;p21"/>
          <p:cNvSpPr txBox="1"/>
          <p:nvPr/>
        </p:nvSpPr>
        <p:spPr>
          <a:xfrm>
            <a:off x="315912" y="4554537"/>
            <a:ext cx="8512175" cy="21113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 OCR: </a:t>
            </a:r>
            <a:r>
              <a:rPr b="1" i="1" lang="en-US" sz="1600" u="none" cap="none" strike="noStrike">
                <a:solidFill>
                  <a:schemeClr val="dk1"/>
                </a:solidFill>
                <a:latin typeface="Arial"/>
                <a:ea typeface="Arial"/>
                <a:cs typeface="Arial"/>
                <a:sym typeface="Arial"/>
              </a:rPr>
              <a:t>Optical Character Recognition</a:t>
            </a:r>
            <a:r>
              <a:rPr b="1" i="0" lang="en-US" sz="1600" u="none" cap="none" strike="noStrike">
                <a:solidFill>
                  <a:schemeClr val="dk1"/>
                </a:solidFill>
                <a:latin typeface="Arial"/>
                <a:ea typeface="Arial"/>
                <a:cs typeface="Arial"/>
                <a:sym typeface="Arial"/>
              </a:rPr>
              <a:t> (Reconhecimento Óptico de Caracteres), é uma tecnologia para reconhecer caracteres a partir de um arquivo de imagem ou mapa de bits sejam eles escaneados, escritos à mão, datilografados ou impressos.</a:t>
            </a:r>
            <a:endParaRPr/>
          </a:p>
          <a:p>
            <a:pPr indent="0" lvl="0" marL="0" marR="0" rtl="0" algn="just">
              <a:lnSpc>
                <a:spcPct val="100000"/>
              </a:lnSpc>
              <a:spcBef>
                <a:spcPts val="32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 ICR: </a:t>
            </a:r>
            <a:r>
              <a:rPr b="1" i="1" lang="en-US" sz="1600" u="none" cap="none" strike="noStrike">
                <a:solidFill>
                  <a:schemeClr val="dk1"/>
                </a:solidFill>
                <a:latin typeface="Arial"/>
                <a:ea typeface="Arial"/>
                <a:cs typeface="Arial"/>
                <a:sym typeface="Arial"/>
              </a:rPr>
              <a:t>Intelligent Character Recognition</a:t>
            </a:r>
            <a:r>
              <a:rPr b="1" i="0" lang="en-US" sz="1600" u="none" cap="none" strike="noStrike">
                <a:solidFill>
                  <a:schemeClr val="dk1"/>
                </a:solidFill>
                <a:latin typeface="Arial"/>
                <a:ea typeface="Arial"/>
                <a:cs typeface="Arial"/>
                <a:sym typeface="Arial"/>
              </a:rPr>
              <a:t> (Reconhecimento Inteligente de Caracteres) é uma versão superior da tecnologia OCR, especificamente, um sistema de reconhecimento de escrita à mão, que permite que as fontes e estilos diferentes de escritas à mão serão aprendidas pelo computador durante o processamento, para melhorar os níveis de precisão e reconhecimento.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2"/>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10</a:t>
            </a:r>
            <a:endParaRPr/>
          </a:p>
        </p:txBody>
      </p:sp>
      <p:pic>
        <p:nvPicPr>
          <p:cNvPr descr="logo fiap novo 2" id="167" name="Google Shape;167;p22"/>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168" name="Google Shape;168;p22"/>
          <p:cNvSpPr txBox="1"/>
          <p:nvPr/>
        </p:nvSpPr>
        <p:spPr>
          <a:xfrm>
            <a:off x="1692275" y="18891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Aprendizado de Máquina</a:t>
            </a:r>
            <a:endParaRPr/>
          </a:p>
        </p:txBody>
      </p:sp>
      <p:sp>
        <p:nvSpPr>
          <p:cNvPr id="169" name="Google Shape;169;p22"/>
          <p:cNvSpPr txBox="1"/>
          <p:nvPr/>
        </p:nvSpPr>
        <p:spPr>
          <a:xfrm>
            <a:off x="315912" y="1447800"/>
            <a:ext cx="8512175" cy="26781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accent2"/>
              </a:buClr>
              <a:buSzPts val="2800"/>
              <a:buFont typeface="Arial"/>
              <a:buNone/>
            </a:pPr>
            <a:r>
              <a:rPr b="1" i="0" lang="en-US" sz="2800" u="sng" cap="none" strike="noStrike">
                <a:solidFill>
                  <a:schemeClr val="accent2"/>
                </a:solidFill>
                <a:latin typeface="Arial"/>
                <a:ea typeface="Arial"/>
                <a:cs typeface="Arial"/>
                <a:sym typeface="Arial"/>
              </a:rPr>
              <a:t>Aprendizado de Máquina</a:t>
            </a:r>
            <a:r>
              <a:rPr b="1" i="0" lang="en-US" sz="2800" u="none" cap="none" strike="noStrike">
                <a:solidFill>
                  <a:schemeClr val="dk1"/>
                </a:solidFill>
                <a:latin typeface="Arial"/>
                <a:ea typeface="Arial"/>
                <a:cs typeface="Arial"/>
                <a:sym typeface="Arial"/>
              </a:rPr>
              <a:t> (</a:t>
            </a:r>
            <a:r>
              <a:rPr b="1" i="1" lang="en-US" sz="2800" u="sng" cap="none" strike="noStrike">
                <a:solidFill>
                  <a:schemeClr val="accent2"/>
                </a:solidFill>
                <a:latin typeface="Arial"/>
                <a:ea typeface="Arial"/>
                <a:cs typeface="Arial"/>
                <a:sym typeface="Arial"/>
              </a:rPr>
              <a:t>Machine Learning</a:t>
            </a:r>
            <a:r>
              <a:rPr b="1" i="0" lang="en-US" sz="2800" u="none" cap="none" strike="noStrike">
                <a:solidFill>
                  <a:schemeClr val="dk1"/>
                </a:solidFill>
                <a:latin typeface="Arial"/>
                <a:ea typeface="Arial"/>
                <a:cs typeface="Arial"/>
                <a:sym typeface="Arial"/>
              </a:rPr>
              <a:t>) é uma subárea da inteligência artificial que se concentra no uso de dados e algoritmos para imitar a maneira como os seres humanos aprendem, melhorando gradualmente sua precisão.</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3"/>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11</a:t>
            </a:r>
            <a:endParaRPr/>
          </a:p>
        </p:txBody>
      </p:sp>
      <p:pic>
        <p:nvPicPr>
          <p:cNvPr descr="logo fiap novo 2" id="175" name="Google Shape;175;p23"/>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176" name="Google Shape;176;p23"/>
          <p:cNvSpPr txBox="1"/>
          <p:nvPr/>
        </p:nvSpPr>
        <p:spPr>
          <a:xfrm>
            <a:off x="1692275" y="18891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Aprendizado de Máquina</a:t>
            </a:r>
            <a:endParaRPr/>
          </a:p>
        </p:txBody>
      </p:sp>
      <p:sp>
        <p:nvSpPr>
          <p:cNvPr id="177" name="Google Shape;177;p23"/>
          <p:cNvSpPr/>
          <p:nvPr/>
        </p:nvSpPr>
        <p:spPr>
          <a:xfrm>
            <a:off x="1692275" y="1044575"/>
            <a:ext cx="5759450" cy="5759450"/>
          </a:xfrm>
          <a:prstGeom prst="ellipse">
            <a:avLst/>
          </a:prstGeom>
          <a:solidFill>
            <a:srgbClr val="00B0F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8" name="Google Shape;178;p23"/>
          <p:cNvSpPr/>
          <p:nvPr/>
        </p:nvSpPr>
        <p:spPr>
          <a:xfrm>
            <a:off x="2411412" y="2484437"/>
            <a:ext cx="4321175" cy="4319587"/>
          </a:xfrm>
          <a:prstGeom prst="ellipse">
            <a:avLst/>
          </a:prstGeom>
          <a:solidFill>
            <a:srgbClr val="FFC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9" name="Google Shape;179;p23"/>
          <p:cNvSpPr txBox="1"/>
          <p:nvPr/>
        </p:nvSpPr>
        <p:spPr>
          <a:xfrm>
            <a:off x="2411412" y="1584325"/>
            <a:ext cx="4321175" cy="4683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Inteligência Artificial</a:t>
            </a:r>
            <a:endParaRPr/>
          </a:p>
        </p:txBody>
      </p:sp>
      <p:sp>
        <p:nvSpPr>
          <p:cNvPr id="180" name="Google Shape;180;p23"/>
          <p:cNvSpPr txBox="1"/>
          <p:nvPr/>
        </p:nvSpPr>
        <p:spPr>
          <a:xfrm>
            <a:off x="2411412" y="4410075"/>
            <a:ext cx="4321175" cy="4683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Aprendizado de Máquina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4"/>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a:solidFill>
                  <a:schemeClr val="dk2"/>
                </a:solidFill>
                <a:latin typeface="Arial"/>
                <a:ea typeface="Arial"/>
                <a:cs typeface="Arial"/>
                <a:sym typeface="Arial"/>
              </a:rPr>
              <a:t>12</a:t>
            </a:r>
            <a:endParaRPr/>
          </a:p>
        </p:txBody>
      </p:sp>
      <p:sp>
        <p:nvSpPr>
          <p:cNvPr id="186" name="Google Shape;186;p24"/>
          <p:cNvSpPr txBox="1"/>
          <p:nvPr/>
        </p:nvSpPr>
        <p:spPr>
          <a:xfrm>
            <a:off x="315912" y="1447800"/>
            <a:ext cx="8512200" cy="3109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Arthur Samuel começou seus experiment</a:t>
            </a:r>
            <a:r>
              <a:rPr b="1" lang="en-US" sz="2800">
                <a:solidFill>
                  <a:schemeClr val="dk1"/>
                </a:solidFill>
              </a:rPr>
              <a:t>os</a:t>
            </a:r>
            <a:r>
              <a:rPr b="1" i="0" lang="en-US" sz="2800" u="none">
                <a:solidFill>
                  <a:schemeClr val="dk1"/>
                </a:solidFill>
                <a:latin typeface="Arial"/>
                <a:ea typeface="Arial"/>
                <a:cs typeface="Arial"/>
                <a:sym typeface="Arial"/>
              </a:rPr>
              <a:t> com aprendizado de máquina na década de 1950, enquanto trabalhava na IBM. Ele queria ver se um computador poderia aprender a jogar damas e melhorar ao longo do tempo, sem que precisasse ser reprogramado a cada nova jogada.</a:t>
            </a:r>
            <a:endParaRPr/>
          </a:p>
        </p:txBody>
      </p:sp>
      <p:pic>
        <p:nvPicPr>
          <p:cNvPr descr="logo fiap novo 2" id="187" name="Google Shape;187;p24"/>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188" name="Google Shape;188;p24"/>
          <p:cNvSpPr txBox="1"/>
          <p:nvPr/>
        </p:nvSpPr>
        <p:spPr>
          <a:xfrm>
            <a:off x="1692275" y="18891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a:solidFill>
                  <a:schemeClr val="dk2"/>
                </a:solidFill>
                <a:latin typeface="Arial"/>
                <a:ea typeface="Arial"/>
                <a:cs typeface="Arial"/>
                <a:sym typeface="Arial"/>
              </a:rPr>
              <a:t>Aprendizado de Máquina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5"/>
          <p:cNvSpPr txBox="1"/>
          <p:nvPr/>
        </p:nvSpPr>
        <p:spPr>
          <a:xfrm>
            <a:off x="315912" y="1447800"/>
            <a:ext cx="8512200" cy="3724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À medida que jogava mais e mais partidas, o sistema armazenava informações sobre o que resultava em vitóri</a:t>
            </a:r>
            <a:r>
              <a:rPr b="1" lang="en-US" sz="2800">
                <a:solidFill>
                  <a:schemeClr val="dk1"/>
                </a:solidFill>
              </a:rPr>
              <a:t>as </a:t>
            </a:r>
            <a:r>
              <a:rPr b="1" i="0" lang="en-US" sz="2800" u="none">
                <a:solidFill>
                  <a:schemeClr val="dk1"/>
                </a:solidFill>
                <a:latin typeface="Arial"/>
                <a:ea typeface="Arial"/>
                <a:cs typeface="Arial"/>
                <a:sym typeface="Arial"/>
              </a:rPr>
              <a:t>e o que não </a:t>
            </a:r>
            <a:r>
              <a:rPr b="1" lang="en-US" sz="2800">
                <a:solidFill>
                  <a:schemeClr val="dk1"/>
                </a:solidFill>
              </a:rPr>
              <a:t>resultava em vitórias</a:t>
            </a:r>
            <a:r>
              <a:rPr b="1" i="0" lang="en-US" sz="2800" u="none">
                <a:solidFill>
                  <a:schemeClr val="dk1"/>
                </a:solidFill>
                <a:latin typeface="Arial"/>
                <a:ea typeface="Arial"/>
                <a:cs typeface="Arial"/>
                <a:sym typeface="Arial"/>
              </a:rPr>
              <a:t>, aprimorando sua estratégia com base nas partidas anteriores.</a:t>
            </a:r>
            <a:endParaRPr b="1" i="0" sz="2800" u="non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Arial"/>
              <a:buNone/>
            </a:pPr>
            <a:r>
              <a:t/>
            </a:r>
            <a:endParaRPr b="1" sz="1200">
              <a:solidFill>
                <a:schemeClr val="dk1"/>
              </a:solidFill>
            </a:endParaRPr>
          </a:p>
          <a:p>
            <a:pPr indent="0" lvl="0" marL="0" marR="0" rtl="0" algn="just">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Es</a:t>
            </a:r>
            <a:r>
              <a:rPr b="1" lang="en-US" sz="2800">
                <a:solidFill>
                  <a:schemeClr val="dk1"/>
                </a:solidFill>
              </a:rPr>
              <a:t>t</a:t>
            </a:r>
            <a:r>
              <a:rPr b="1" i="0" lang="en-US" sz="2800" u="none">
                <a:solidFill>
                  <a:schemeClr val="dk1"/>
                </a:solidFill>
                <a:latin typeface="Arial"/>
                <a:ea typeface="Arial"/>
                <a:cs typeface="Arial"/>
                <a:sym typeface="Arial"/>
              </a:rPr>
              <a:t>a abordagem de aprendizado a partir de dados é o que </a:t>
            </a:r>
            <a:r>
              <a:rPr b="1" lang="en-US" sz="2800">
                <a:solidFill>
                  <a:schemeClr val="dk1"/>
                </a:solidFill>
              </a:rPr>
              <a:t>atualmente</a:t>
            </a:r>
            <a:r>
              <a:rPr b="1" i="0" lang="en-US" sz="2800" u="none">
                <a:solidFill>
                  <a:schemeClr val="dk1"/>
                </a:solidFill>
                <a:latin typeface="Arial"/>
                <a:ea typeface="Arial"/>
                <a:cs typeface="Arial"/>
                <a:sym typeface="Arial"/>
              </a:rPr>
              <a:t> conhecemos como aprendizado de máquina.</a:t>
            </a:r>
            <a:endParaRPr/>
          </a:p>
        </p:txBody>
      </p:sp>
      <p:pic>
        <p:nvPicPr>
          <p:cNvPr descr="logo fiap novo 2" id="194" name="Google Shape;194;p25"/>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195" name="Google Shape;195;p25"/>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a:solidFill>
                  <a:schemeClr val="dk2"/>
                </a:solidFill>
                <a:latin typeface="Arial"/>
                <a:ea typeface="Arial"/>
                <a:cs typeface="Arial"/>
                <a:sym typeface="Arial"/>
              </a:rPr>
              <a:t>13</a:t>
            </a:r>
            <a:endParaRPr/>
          </a:p>
        </p:txBody>
      </p:sp>
      <p:sp>
        <p:nvSpPr>
          <p:cNvPr id="196" name="Google Shape;196;p25"/>
          <p:cNvSpPr txBox="1"/>
          <p:nvPr/>
        </p:nvSpPr>
        <p:spPr>
          <a:xfrm>
            <a:off x="1692275" y="18891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a:solidFill>
                  <a:schemeClr val="dk2"/>
                </a:solidFill>
                <a:latin typeface="Arial"/>
                <a:ea typeface="Arial"/>
                <a:cs typeface="Arial"/>
                <a:sym typeface="Arial"/>
              </a:rPr>
              <a:t>Aprendizado de Máquina</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6"/>
          <p:cNvSpPr txBox="1"/>
          <p:nvPr/>
        </p:nvSpPr>
        <p:spPr>
          <a:xfrm>
            <a:off x="315912" y="1447800"/>
            <a:ext cx="8512200" cy="42996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Em 1959, Arthur Samuel publicou o artigo “Some Studies in Machine Learning Using the Game of Checkers” no IBM Journal of Research and Development, criando o termo “</a:t>
            </a:r>
            <a:r>
              <a:rPr b="1" i="1" lang="en-US" sz="2800" u="none">
                <a:solidFill>
                  <a:schemeClr val="dk1"/>
                </a:solidFill>
                <a:latin typeface="Arial"/>
                <a:ea typeface="Arial"/>
                <a:cs typeface="Arial"/>
                <a:sym typeface="Arial"/>
              </a:rPr>
              <a:t>machine learning</a:t>
            </a:r>
            <a:r>
              <a:rPr b="1" i="0" lang="en-US" sz="2800" u="none">
                <a:solidFill>
                  <a:schemeClr val="dk1"/>
                </a:solidFill>
                <a:latin typeface="Arial"/>
                <a:ea typeface="Arial"/>
                <a:cs typeface="Arial"/>
                <a:sym typeface="Arial"/>
              </a:rPr>
              <a:t>”.</a:t>
            </a:r>
            <a:endParaRPr/>
          </a:p>
          <a:p>
            <a:pPr indent="0" lvl="0" marL="0" marR="0" rtl="0" algn="just">
              <a:lnSpc>
                <a:spcPct val="100000"/>
              </a:lnSpc>
              <a:spcBef>
                <a:spcPts val="560"/>
              </a:spcBef>
              <a:spcAft>
                <a:spcPts val="0"/>
              </a:spcAft>
              <a:buClr>
                <a:schemeClr val="dk1"/>
              </a:buClr>
              <a:buSzPts val="2800"/>
              <a:buFont typeface="Arial"/>
              <a:buNone/>
            </a:pPr>
            <a:r>
              <a:t/>
            </a:r>
            <a:endParaRPr b="1" i="0" sz="1200" u="none">
              <a:solidFill>
                <a:schemeClr val="dk1"/>
              </a:solidFill>
              <a:latin typeface="Arial"/>
              <a:ea typeface="Arial"/>
              <a:cs typeface="Arial"/>
              <a:sym typeface="Arial"/>
            </a:endParaRPr>
          </a:p>
          <a:p>
            <a:pPr indent="0" lvl="0" marL="0" marR="0" rtl="0" algn="just">
              <a:lnSpc>
                <a:spcPct val="100000"/>
              </a:lnSpc>
              <a:spcBef>
                <a:spcPts val="56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“A essência do aprendizado de máquina é ensinar as máquinas a aprender com a experiência e melhorar continuamente.” – Arthur Samuel, 1959.</a:t>
            </a:r>
            <a:endParaRPr/>
          </a:p>
        </p:txBody>
      </p:sp>
      <p:pic>
        <p:nvPicPr>
          <p:cNvPr descr="logo fiap novo 2" id="202" name="Google Shape;202;p26"/>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203" name="Google Shape;203;p26"/>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a:solidFill>
                  <a:schemeClr val="dk2"/>
                </a:solidFill>
                <a:latin typeface="Arial"/>
                <a:ea typeface="Arial"/>
                <a:cs typeface="Arial"/>
                <a:sym typeface="Arial"/>
              </a:rPr>
              <a:t>14</a:t>
            </a:r>
            <a:endParaRPr/>
          </a:p>
        </p:txBody>
      </p:sp>
      <p:sp>
        <p:nvSpPr>
          <p:cNvPr id="204" name="Google Shape;204;p26"/>
          <p:cNvSpPr txBox="1"/>
          <p:nvPr/>
        </p:nvSpPr>
        <p:spPr>
          <a:xfrm>
            <a:off x="1692275" y="18891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a:solidFill>
                  <a:schemeClr val="dk2"/>
                </a:solidFill>
                <a:latin typeface="Arial"/>
                <a:ea typeface="Arial"/>
                <a:cs typeface="Arial"/>
                <a:sym typeface="Arial"/>
              </a:rPr>
              <a:t>Aprendizado de Máquina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p27"/>
          <p:cNvPicPr preferRelativeResize="0"/>
          <p:nvPr/>
        </p:nvPicPr>
        <p:blipFill rotWithShape="1">
          <a:blip r:embed="rId3">
            <a:alphaModFix/>
          </a:blip>
          <a:srcRect b="0" l="0" r="0" t="0"/>
          <a:stretch/>
        </p:blipFill>
        <p:spPr>
          <a:xfrm>
            <a:off x="681037" y="1836737"/>
            <a:ext cx="7786687" cy="4424362"/>
          </a:xfrm>
          <a:prstGeom prst="rect">
            <a:avLst/>
          </a:prstGeom>
          <a:noFill/>
          <a:ln>
            <a:noFill/>
          </a:ln>
        </p:spPr>
      </p:pic>
      <p:sp>
        <p:nvSpPr>
          <p:cNvPr id="210" name="Google Shape;210;p27"/>
          <p:cNvSpPr txBox="1"/>
          <p:nvPr/>
        </p:nvSpPr>
        <p:spPr>
          <a:xfrm>
            <a:off x="136525" y="6408737"/>
            <a:ext cx="8874125" cy="3603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Arthur Samuel desenvolvendo o programa Checkers para jogar no IBM 701 (24/02/1956).</a:t>
            </a:r>
            <a:endParaRPr/>
          </a:p>
        </p:txBody>
      </p:sp>
      <p:pic>
        <p:nvPicPr>
          <p:cNvPr descr="logo fiap novo 2" id="211" name="Google Shape;211;p27"/>
          <p:cNvPicPr preferRelativeResize="0"/>
          <p:nvPr/>
        </p:nvPicPr>
        <p:blipFill rotWithShape="1">
          <a:blip r:embed="rId4">
            <a:alphaModFix/>
          </a:blip>
          <a:srcRect b="0" l="0" r="0" t="0"/>
          <a:stretch/>
        </p:blipFill>
        <p:spPr>
          <a:xfrm>
            <a:off x="0" y="0"/>
            <a:ext cx="1547812" cy="1268412"/>
          </a:xfrm>
          <a:prstGeom prst="rect">
            <a:avLst/>
          </a:prstGeom>
          <a:noFill/>
          <a:ln>
            <a:noFill/>
          </a:ln>
        </p:spPr>
      </p:pic>
      <p:sp>
        <p:nvSpPr>
          <p:cNvPr id="212" name="Google Shape;212;p27"/>
          <p:cNvSpPr txBox="1"/>
          <p:nvPr/>
        </p:nvSpPr>
        <p:spPr>
          <a:xfrm>
            <a:off x="1692275" y="18891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a:solidFill>
                  <a:schemeClr val="dk2"/>
                </a:solidFill>
                <a:latin typeface="Arial"/>
                <a:ea typeface="Arial"/>
                <a:cs typeface="Arial"/>
                <a:sym typeface="Arial"/>
              </a:rPr>
              <a:t>Aprendizado de Máquina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8"/>
          <p:cNvSpPr txBox="1"/>
          <p:nvPr/>
        </p:nvSpPr>
        <p:spPr>
          <a:xfrm>
            <a:off x="315912" y="1447800"/>
            <a:ext cx="8512200" cy="3540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“O aprendizado de máquina é uma das principais subáreas da inteligência artificial, e é composto por uma coleção de métodos matemáticos baseados na teoria estatística que permite aos computadores automatizar tarefas com base na descoberta sistemática de padrões nos conjuntos de dados disponíveis ou em experiências.” (Ethem Alpaydin)</a:t>
            </a:r>
            <a:endParaRPr/>
          </a:p>
        </p:txBody>
      </p:sp>
      <p:pic>
        <p:nvPicPr>
          <p:cNvPr descr="logo fiap novo 2" id="218" name="Google Shape;218;p28"/>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219" name="Google Shape;219;p28"/>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a:solidFill>
                  <a:schemeClr val="dk2"/>
                </a:solidFill>
                <a:latin typeface="Arial"/>
                <a:ea typeface="Arial"/>
                <a:cs typeface="Arial"/>
                <a:sym typeface="Arial"/>
              </a:rPr>
              <a:t>16</a:t>
            </a:r>
            <a:endParaRPr/>
          </a:p>
        </p:txBody>
      </p:sp>
      <p:sp>
        <p:nvSpPr>
          <p:cNvPr id="220" name="Google Shape;220;p28"/>
          <p:cNvSpPr txBox="1"/>
          <p:nvPr/>
        </p:nvSpPr>
        <p:spPr>
          <a:xfrm>
            <a:off x="1692275" y="18891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a:solidFill>
                  <a:schemeClr val="dk2"/>
                </a:solidFill>
                <a:latin typeface="Arial"/>
                <a:ea typeface="Arial"/>
                <a:cs typeface="Arial"/>
                <a:sym typeface="Arial"/>
              </a:rPr>
              <a:t>Aprendizado de Máquina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descr="logo fiap novo 2" id="225" name="Google Shape;225;p29"/>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226" name="Google Shape;226;p29"/>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a:solidFill>
                  <a:schemeClr val="dk2"/>
                </a:solidFill>
                <a:latin typeface="Arial"/>
                <a:ea typeface="Arial"/>
                <a:cs typeface="Arial"/>
                <a:sym typeface="Arial"/>
              </a:rPr>
              <a:t>17</a:t>
            </a:r>
            <a:endParaRPr/>
          </a:p>
        </p:txBody>
      </p:sp>
      <p:sp>
        <p:nvSpPr>
          <p:cNvPr id="227" name="Google Shape;227;p29"/>
          <p:cNvSpPr txBox="1"/>
          <p:nvPr/>
        </p:nvSpPr>
        <p:spPr>
          <a:xfrm>
            <a:off x="1692275" y="18891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a:solidFill>
                  <a:schemeClr val="dk2"/>
                </a:solidFill>
                <a:latin typeface="Arial"/>
                <a:ea typeface="Arial"/>
                <a:cs typeface="Arial"/>
                <a:sym typeface="Arial"/>
              </a:rPr>
              <a:t>Aprendizado Profundo</a:t>
            </a:r>
            <a:endParaRPr/>
          </a:p>
        </p:txBody>
      </p:sp>
      <p:sp>
        <p:nvSpPr>
          <p:cNvPr id="228" name="Google Shape;228;p29"/>
          <p:cNvSpPr txBox="1"/>
          <p:nvPr/>
        </p:nvSpPr>
        <p:spPr>
          <a:xfrm>
            <a:off x="315912" y="1447800"/>
            <a:ext cx="8512200" cy="3109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accent2"/>
              </a:buClr>
              <a:buSzPts val="2800"/>
              <a:buFont typeface="Arial"/>
              <a:buNone/>
            </a:pPr>
            <a:r>
              <a:rPr b="1" i="0" lang="en-US" sz="2800" u="sng">
                <a:solidFill>
                  <a:schemeClr val="accent2"/>
                </a:solidFill>
                <a:latin typeface="Arial"/>
                <a:ea typeface="Arial"/>
                <a:cs typeface="Arial"/>
                <a:sym typeface="Arial"/>
              </a:rPr>
              <a:t>Aprendizado Profundo</a:t>
            </a:r>
            <a:r>
              <a:rPr b="1" i="0" lang="en-US" sz="2800" u="none">
                <a:solidFill>
                  <a:schemeClr val="dk1"/>
                </a:solidFill>
                <a:latin typeface="Arial"/>
                <a:ea typeface="Arial"/>
                <a:cs typeface="Arial"/>
                <a:sym typeface="Arial"/>
              </a:rPr>
              <a:t> (</a:t>
            </a:r>
            <a:r>
              <a:rPr b="1" i="1" lang="en-US" sz="2800" u="sng">
                <a:solidFill>
                  <a:schemeClr val="accent2"/>
                </a:solidFill>
                <a:latin typeface="Arial"/>
                <a:ea typeface="Arial"/>
                <a:cs typeface="Arial"/>
                <a:sym typeface="Arial"/>
              </a:rPr>
              <a:t>Deep Learning</a:t>
            </a:r>
            <a:r>
              <a:rPr b="1" i="0" lang="en-US" sz="2800" u="none">
                <a:solidFill>
                  <a:schemeClr val="dk1"/>
                </a:solidFill>
                <a:latin typeface="Arial"/>
                <a:ea typeface="Arial"/>
                <a:cs typeface="Arial"/>
                <a:sym typeface="Arial"/>
              </a:rPr>
              <a:t>) é um subconjunto do aprendizado de máquina que utiliza redes neurais para simular o comportamento do cérebro humano. Es</a:t>
            </a:r>
            <a:r>
              <a:rPr b="1" lang="en-US" sz="2800">
                <a:solidFill>
                  <a:schemeClr val="dk1"/>
                </a:solidFill>
              </a:rPr>
              <a:t>t</a:t>
            </a:r>
            <a:r>
              <a:rPr b="1" i="0" lang="en-US" sz="2800" u="none">
                <a:solidFill>
                  <a:schemeClr val="dk1"/>
                </a:solidFill>
                <a:latin typeface="Arial"/>
                <a:ea typeface="Arial"/>
                <a:cs typeface="Arial"/>
                <a:sym typeface="Arial"/>
              </a:rPr>
              <a:t>as redes neurais são capazes de aprender com grandes quantidades de dados, permitindo a realização de tarefas analíticas sem intervenção humana.</a:t>
            </a:r>
            <a:endParaRPr b="1" sz="24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p:nvPr/>
        </p:nvSpPr>
        <p:spPr>
          <a:xfrm>
            <a:off x="1692275" y="1044575"/>
            <a:ext cx="5759450" cy="5759450"/>
          </a:xfrm>
          <a:prstGeom prst="ellipse">
            <a:avLst/>
          </a:prstGeom>
          <a:solidFill>
            <a:srgbClr val="00B0F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4" name="Google Shape;234;p30"/>
          <p:cNvSpPr/>
          <p:nvPr/>
        </p:nvSpPr>
        <p:spPr>
          <a:xfrm>
            <a:off x="2411412" y="2484437"/>
            <a:ext cx="4321175" cy="4319587"/>
          </a:xfrm>
          <a:prstGeom prst="ellipse">
            <a:avLst/>
          </a:prstGeom>
          <a:solidFill>
            <a:srgbClr val="FFC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descr="logo fiap novo 2" id="235" name="Google Shape;235;p30"/>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236" name="Google Shape;236;p30"/>
          <p:cNvSpPr txBox="1"/>
          <p:nvPr/>
        </p:nvSpPr>
        <p:spPr>
          <a:xfrm>
            <a:off x="2411412" y="1584325"/>
            <a:ext cx="4321175" cy="4683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Inteligência Artificial</a:t>
            </a:r>
            <a:endParaRPr/>
          </a:p>
        </p:txBody>
      </p:sp>
      <p:sp>
        <p:nvSpPr>
          <p:cNvPr id="237" name="Google Shape;237;p30"/>
          <p:cNvSpPr txBox="1"/>
          <p:nvPr/>
        </p:nvSpPr>
        <p:spPr>
          <a:xfrm>
            <a:off x="2411412" y="2843212"/>
            <a:ext cx="4321175" cy="900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Aprendizado</a:t>
            </a:r>
            <a:endParaRPr/>
          </a:p>
          <a:p>
            <a:pPr indent="0" lvl="0" marL="0" marR="0" rtl="0" algn="ctr">
              <a:lnSpc>
                <a:spcPct val="100000"/>
              </a:lnSpc>
              <a:spcBef>
                <a:spcPts val="48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de Máquina</a:t>
            </a:r>
            <a:endParaRPr/>
          </a:p>
        </p:txBody>
      </p:sp>
      <p:sp>
        <p:nvSpPr>
          <p:cNvPr id="238" name="Google Shape;238;p30"/>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a:solidFill>
                  <a:schemeClr val="dk2"/>
                </a:solidFill>
                <a:latin typeface="Arial"/>
                <a:ea typeface="Arial"/>
                <a:cs typeface="Arial"/>
                <a:sym typeface="Arial"/>
              </a:rPr>
              <a:t>18</a:t>
            </a:r>
            <a:endParaRPr/>
          </a:p>
        </p:txBody>
      </p:sp>
      <p:sp>
        <p:nvSpPr>
          <p:cNvPr id="239" name="Google Shape;239;p30"/>
          <p:cNvSpPr txBox="1"/>
          <p:nvPr/>
        </p:nvSpPr>
        <p:spPr>
          <a:xfrm>
            <a:off x="1692275" y="18891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a:solidFill>
                  <a:schemeClr val="dk2"/>
                </a:solidFill>
                <a:latin typeface="Arial"/>
                <a:ea typeface="Arial"/>
                <a:cs typeface="Arial"/>
                <a:sym typeface="Arial"/>
              </a:rPr>
              <a:t>Aprendizado Profundo</a:t>
            </a:r>
            <a:endParaRPr/>
          </a:p>
        </p:txBody>
      </p:sp>
      <p:sp>
        <p:nvSpPr>
          <p:cNvPr id="240" name="Google Shape;240;p30"/>
          <p:cNvSpPr/>
          <p:nvPr/>
        </p:nvSpPr>
        <p:spPr>
          <a:xfrm>
            <a:off x="3132137" y="3924300"/>
            <a:ext cx="2879725" cy="2879725"/>
          </a:xfrm>
          <a:prstGeom prst="ellipse">
            <a:avLst/>
          </a:prstGeom>
          <a:solidFill>
            <a:srgbClr val="92D05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1" name="Google Shape;241;p30"/>
          <p:cNvSpPr txBox="1"/>
          <p:nvPr/>
        </p:nvSpPr>
        <p:spPr>
          <a:xfrm>
            <a:off x="2411412" y="4895850"/>
            <a:ext cx="4321175" cy="900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Aprendizado</a:t>
            </a:r>
            <a:endParaRPr/>
          </a:p>
          <a:p>
            <a:pPr indent="0" lvl="0" marL="0" marR="0" rtl="0" algn="ctr">
              <a:lnSpc>
                <a:spcPct val="100000"/>
              </a:lnSpc>
              <a:spcBef>
                <a:spcPts val="48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Profundo</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pic>
        <p:nvPicPr>
          <p:cNvPr descr="logo fiap novo 2" id="246" name="Google Shape;246;p31"/>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247" name="Google Shape;247;p31"/>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a:solidFill>
                  <a:schemeClr val="dk2"/>
                </a:solidFill>
                <a:latin typeface="Arial"/>
                <a:ea typeface="Arial"/>
                <a:cs typeface="Arial"/>
                <a:sym typeface="Arial"/>
              </a:rPr>
              <a:t>19</a:t>
            </a:r>
            <a:endParaRPr/>
          </a:p>
        </p:txBody>
      </p:sp>
      <p:sp>
        <p:nvSpPr>
          <p:cNvPr id="248" name="Google Shape;248;p31"/>
          <p:cNvSpPr txBox="1"/>
          <p:nvPr/>
        </p:nvSpPr>
        <p:spPr>
          <a:xfrm>
            <a:off x="1692275" y="18891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a:solidFill>
                  <a:schemeClr val="dk2"/>
                </a:solidFill>
                <a:latin typeface="Arial"/>
                <a:ea typeface="Arial"/>
                <a:cs typeface="Arial"/>
                <a:sym typeface="Arial"/>
              </a:rPr>
              <a:t>Aprendizado Profundo</a:t>
            </a:r>
            <a:endParaRPr/>
          </a:p>
        </p:txBody>
      </p:sp>
      <p:sp>
        <p:nvSpPr>
          <p:cNvPr id="249" name="Google Shape;249;p31"/>
          <p:cNvSpPr txBox="1"/>
          <p:nvPr/>
        </p:nvSpPr>
        <p:spPr>
          <a:xfrm>
            <a:off x="315912" y="1447800"/>
            <a:ext cx="8512200" cy="39711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O aprendizado profundo é capaz de processar dados não estruturados, como texto e imagens, eliminando parte do pré-processamento de dados que normalmente está envolvido com o aprendizado de máquina. A tecnologia de aprendizado profundo está por trás de produtos e serviços do dia a dia, como assistentes digitais, controles ativados por voz e detecção de fraudes em compras com cart</a:t>
            </a:r>
            <a:r>
              <a:rPr b="1" lang="en-US" sz="2800">
                <a:solidFill>
                  <a:schemeClr val="dk1"/>
                </a:solidFill>
              </a:rPr>
              <a:t>ões</a:t>
            </a:r>
            <a:r>
              <a:rPr b="1" i="0" lang="en-US" sz="2800" u="none">
                <a:solidFill>
                  <a:schemeClr val="dk1"/>
                </a:solidFill>
                <a:latin typeface="Arial"/>
                <a:ea typeface="Arial"/>
                <a:cs typeface="Arial"/>
                <a:sym typeface="Arial"/>
              </a:rPr>
              <a:t> de crédito.</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sign padrão">
  <a:themeElements>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