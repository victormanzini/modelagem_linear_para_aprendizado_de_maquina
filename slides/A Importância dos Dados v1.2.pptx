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89750" cy="96710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86087" cy="48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7950" lIns="95925" spcFirstLastPara="1" rIns="95925" wrap="square" tIns="479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02075" y="0"/>
            <a:ext cx="2986087" cy="48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7950" lIns="95925" spcFirstLastPara="1" rIns="95925" wrap="square" tIns="479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027112" y="725487"/>
            <a:ext cx="4835525" cy="3625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8975" y="4594225"/>
            <a:ext cx="55118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7950" lIns="95925" spcFirstLastPara="1" rIns="95925" wrap="square" tIns="4795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85275"/>
            <a:ext cx="2986087" cy="484187"/>
          </a:xfrm>
          <a:prstGeom prst="rect">
            <a:avLst/>
          </a:prstGeom>
          <a:noFill/>
          <a:ln>
            <a:noFill/>
          </a:ln>
        </p:spPr>
        <p:txBody>
          <a:bodyPr anchorCtr="0" anchor="b" bIns="47950" lIns="95925" spcFirstLastPara="1" rIns="95925" wrap="square" tIns="479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02075" y="9185275"/>
            <a:ext cx="2986087" cy="484187"/>
          </a:xfrm>
          <a:prstGeom prst="rect">
            <a:avLst/>
          </a:prstGeom>
          <a:noFill/>
          <a:ln>
            <a:noFill/>
          </a:ln>
        </p:spPr>
        <p:txBody>
          <a:bodyPr anchorCtr="0" anchor="b" bIns="47950" lIns="95925" spcFirstLastPara="1" rIns="95925" wrap="square" tIns="479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8975" y="4594225"/>
            <a:ext cx="5511800" cy="4351337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027112" y="725487"/>
            <a:ext cx="4835525" cy="3625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8975" y="4594225"/>
            <a:ext cx="5511800" cy="4351337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027112" y="725487"/>
            <a:ext cx="4835525" cy="3625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8975" y="4594225"/>
            <a:ext cx="5511800" cy="4351337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027112" y="725487"/>
            <a:ext cx="4835525" cy="3625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8975" y="4594225"/>
            <a:ext cx="5511800" cy="4351337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027112" y="725487"/>
            <a:ext cx="4835525" cy="3625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8975" y="4594225"/>
            <a:ext cx="5511800" cy="4351337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027112" y="725487"/>
            <a:ext cx="4835525" cy="3625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8975" y="4594225"/>
            <a:ext cx="5511800" cy="4351337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027112" y="725487"/>
            <a:ext cx="4835525" cy="3625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8975" y="4594225"/>
            <a:ext cx="5511800" cy="4351337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027112" y="725487"/>
            <a:ext cx="4835525" cy="3625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8975" y="4594225"/>
            <a:ext cx="5511800" cy="4351337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027112" y="725487"/>
            <a:ext cx="4835525" cy="3625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8975" y="4594225"/>
            <a:ext cx="5511800" cy="4351337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027112" y="725487"/>
            <a:ext cx="4835525" cy="3625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8975" y="4594225"/>
            <a:ext cx="5511800" cy="4351337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027112" y="725487"/>
            <a:ext cx="4835525" cy="3625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8975" y="4594225"/>
            <a:ext cx="5511800" cy="4351337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027112" y="725487"/>
            <a:ext cx="4835525" cy="3625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8975" y="4594225"/>
            <a:ext cx="5511800" cy="4351337"/>
          </a:xfrm>
          <a:prstGeom prst="rect">
            <a:avLst/>
          </a:prstGeom>
        </p:spPr>
        <p:txBody>
          <a:bodyPr anchorCtr="0" anchor="t" bIns="47950" lIns="95925" spcFirstLastPara="1" rIns="95925" wrap="square" tIns="4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027112" y="725487"/>
            <a:ext cx="4835525" cy="3625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0" name="Google Shape;60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1" name="Google Shape;61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Aprendizado de Máquina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17500" y="6264275"/>
            <a:ext cx="8512175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Sérgio Ricardo Rota           pf0112@fiap.com.br           </a:t>
            </a:r>
            <a:r>
              <a:rPr b="1" i="0" lang="en-US" sz="18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www.fiap.com.br</a:t>
            </a:r>
            <a:endParaRPr/>
          </a:p>
        </p:txBody>
      </p:sp>
      <p:pic>
        <p:nvPicPr>
          <p:cNvPr descr="logo fiap novo 2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317500" y="1654175"/>
            <a:ext cx="8513762" cy="2554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importância dos Dados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KDD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MINERAÇÃO DE DADOS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315912" y="1447800"/>
            <a:ext cx="85122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Algoritmos de aprendizado de máquina aprendem com seus erros e são capazes de criar previsões sobre conjuntos de dados analisados.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processo, denominado </a:t>
            </a:r>
            <a:r>
              <a:rPr b="1" i="0" lang="en-US" sz="28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Descoberta de Conhecimento em Bancos de Dados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(em inglês, </a:t>
            </a:r>
            <a:r>
              <a:rPr b="1" lang="en-US" sz="2800" u="sng">
                <a:solidFill>
                  <a:schemeClr val="accent2"/>
                </a:solidFill>
              </a:rPr>
              <a:t>KDD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1" i="1" lang="en-US" sz="28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Knowledge Discovery in Databases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envolve a extração de conhecimentos de grandes bases de dados. 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496300" y="6470650"/>
            <a:ext cx="6477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KDD</a:t>
            </a:r>
            <a:endParaRPr/>
          </a:p>
        </p:txBody>
      </p:sp>
      <p:pic>
        <p:nvPicPr>
          <p:cNvPr descr="logo fiap novo 2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725" y="2286000"/>
            <a:ext cx="8721724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8496300" y="6470650"/>
            <a:ext cx="6477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KDD</a:t>
            </a:r>
            <a:endParaRPr/>
          </a:p>
        </p:txBody>
      </p:sp>
      <p:pic>
        <p:nvPicPr>
          <p:cNvPr descr="logo fiap novo 2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315912" y="6408737"/>
            <a:ext cx="8512175" cy="36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Processo de Descoberta de Conhecimento em Bancos de Dados (KDD).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315912" y="1447800"/>
            <a:ext cx="8512200" cy="51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processo de descoberta de conhecimento, a etapa </a:t>
            </a:r>
            <a:r>
              <a:rPr b="1" lang="en-US" sz="2800">
                <a:solidFill>
                  <a:schemeClr val="dk1"/>
                </a:solidFill>
              </a:rPr>
              <a:t>referente à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mineração de dados é uma das técnicas possíveis </a:t>
            </a:r>
            <a:r>
              <a:rPr b="1" lang="en-US" sz="2800">
                <a:solidFill>
                  <a:schemeClr val="dk1"/>
                </a:solidFill>
              </a:rPr>
              <a:t>de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serem aplicadas, sendo o</a:t>
            </a:r>
            <a:r>
              <a:rPr b="1" lang="en-US" sz="2800">
                <a:solidFill>
                  <a:schemeClr val="dk1"/>
                </a:solidFill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aprendizado de máquina outra técnica possível.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8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mineração de dados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1" lang="en-US" sz="28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data mining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refere-se à encontrar dados imprevistos que possam ser transformados em conhecimento. Muitas vezes es</a:t>
            </a:r>
            <a:r>
              <a:rPr b="1" lang="en-US" sz="2800">
                <a:solidFill>
                  <a:schemeClr val="dk1"/>
                </a:solidFill>
              </a:rPr>
              <a:t>t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identificação não é clara, ou seja, é necessário procurar o “diferente” para conseguir chegar no conhecimento que pode gerar decisões melhores.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8496300" y="6470650"/>
            <a:ext cx="6477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Mineração de Dados</a:t>
            </a:r>
            <a:endParaRPr/>
          </a:p>
        </p:txBody>
      </p:sp>
      <p:pic>
        <p:nvPicPr>
          <p:cNvPr descr="logo fiap novo 2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Mineração de Dados</a:t>
            </a:r>
            <a:endParaRPr/>
          </a:p>
        </p:txBody>
      </p:sp>
      <p:pic>
        <p:nvPicPr>
          <p:cNvPr descr="logo fiap novo 2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8496300" y="6470650"/>
            <a:ext cx="6477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315912" y="1447800"/>
            <a:ext cx="8512175" cy="440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Note-se que mineração de dados e aprendizado de máquina são técnicas diferentes, já que mineração de dados tem como objetivo a descoberta de propriedades desconhecidas dos dados, realizando uma transformação na estrutura para uso posterior, enquanto aprendizado de máquina tem como objetivo a predição baseada em características aprendidas dos dados, construindo modelos que podem aprender com estes dados.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/>
        </p:nvSpPr>
        <p:spPr>
          <a:xfrm>
            <a:off x="315912" y="1447800"/>
            <a:ext cx="85122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aprendizado de máquina, são aplicadas técnicas e algoritmos que resultam na “aprendizagem das regras” baseadas no conjunto de dados apresentado como entrada, utilizando modelos diferentes para problemas diferentes (classificação, predição, ordenação etc.). </a:t>
            </a:r>
            <a:r>
              <a:rPr b="1" lang="en-US" sz="2800">
                <a:solidFill>
                  <a:schemeClr val="dk1"/>
                </a:solidFill>
              </a:rPr>
              <a:t>Evidentemente, a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qualidade dos resultados depende diretamente da qualidade dos dados apresentados aos algoritmos de aprendizado de máquina, de modo que, assim como em ciências de dados, é comum as etapas de definição do problema, exploração e preparação dos dados.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8496300" y="6470650"/>
            <a:ext cx="6477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pic>
        <p:nvPicPr>
          <p:cNvPr descr="logo fiap novo 2"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/>
        </p:nvSpPr>
        <p:spPr>
          <a:xfrm>
            <a:off x="315912" y="1447800"/>
            <a:ext cx="8512200" cy="51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utilização de dados como matéria prima das empresas remonta, pelo menos, o surgimento da indústria moderna no século XIX. Contudo, o acesso às tecnologias da informação tornou mais fácil para as empresas coletar, armazenar e analisar dados para a tomada de decisão.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À medida que o volume, a velocidade e a variedade de dados gerados pelas sociedades modernas aumenta, </a:t>
            </a:r>
            <a:r>
              <a:rPr b="1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Data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surge como um novo paradigma digital, </a:t>
            </a:r>
            <a:r>
              <a:rPr b="1" lang="en-US" sz="2600">
                <a:solidFill>
                  <a:schemeClr val="dk1"/>
                </a:solidFill>
              </a:rPr>
              <a:t>já que as 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pessoas e as empresas ficam sobrecarregadas com a abundância de dados que coletaram através de seus sistemas de informação.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/>
          </a:p>
        </p:txBody>
      </p:sp>
      <p:pic>
        <p:nvPicPr>
          <p:cNvPr descr="logo fiap novo 2" id="139" name="Google Shape;1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8496300" y="6470650"/>
            <a:ext cx="6477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/>
        </p:nvSpPr>
        <p:spPr>
          <a:xfrm>
            <a:off x="8496300" y="6470650"/>
            <a:ext cx="6477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315912" y="1447800"/>
            <a:ext cx="8512175" cy="4832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linhas gerais, </a:t>
            </a:r>
            <a:r>
              <a:rPr b="1" i="1" lang="en-US" sz="28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Big Data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refere-se a grandes conjuntos de dados, de diferentes fontes e estruturas, gerados rapidamente, implicando em grandes desafios para coletar, gerenciar e processar tais dados. Há uma diferença significativa entre 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Data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os dados tradicionais, isto é, entre dados transacionais estruturados e dados comportamentais não estruturados. Assim, os dados são qualificados em três tipos: </a:t>
            </a:r>
            <a:r>
              <a:rPr b="1" i="0" lang="en-US" sz="28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estruturados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8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semiestruturados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en-US" sz="28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não estruturados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/>
          </a:p>
        </p:txBody>
      </p:sp>
      <p:pic>
        <p:nvPicPr>
          <p:cNvPr descr="logo fiap novo 2" id="148" name="Google Shape;1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/>
        </p:nvSpPr>
        <p:spPr>
          <a:xfrm>
            <a:off x="315912" y="1447800"/>
            <a:ext cx="8512175" cy="5195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Dados estruturados são aqueles relacionados aos bancos de dados relacionais tradicionais, que apresentam um esquema predefinido e uma estrutura homogênea em termos de atributos e tipos.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Dados semiestruturados não apresentam uma estrutura explícita, sendo irregulares ou incompletos, de modo que os computadores podem compreendê-los, mas as pessoas não; como, por exemplo, documentos HTML. Contudo, quando os dados são analisados, é possível obter uma estrutura de representação.</a:t>
            </a:r>
            <a:endParaRPr/>
          </a:p>
        </p:txBody>
      </p:sp>
      <p:sp>
        <p:nvSpPr>
          <p:cNvPr id="154" name="Google Shape;154;p21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/>
          </a:p>
        </p:txBody>
      </p:sp>
      <p:pic>
        <p:nvPicPr>
          <p:cNvPr descr="logo fiap novo 2" id="155" name="Google Shape;1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/>
        </p:nvSpPr>
        <p:spPr>
          <a:xfrm>
            <a:off x="8496300" y="6470650"/>
            <a:ext cx="6477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/>
        </p:nvSpPr>
        <p:spPr>
          <a:xfrm>
            <a:off x="315912" y="1447800"/>
            <a:ext cx="8512175" cy="354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dados não estruturados, não apresentam estrutura prévia, sendo o principal desafio para as tecnologias de 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Data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Como manipular dados semiestruturados e não estruturados a fim de se obter valor destes dados por meio de correlações e análises. Cerca de 80% dos dados que circulam na Internet são dados não estruturados.</a:t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1692275" y="188912"/>
            <a:ext cx="72723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/>
          </a:p>
        </p:txBody>
      </p:sp>
      <p:pic>
        <p:nvPicPr>
          <p:cNvPr descr="logo fiap novo 2" id="163" name="Google Shape;1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47812" cy="126841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/>
        </p:nvSpPr>
        <p:spPr>
          <a:xfrm>
            <a:off x="8496300" y="6470650"/>
            <a:ext cx="6477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/>
        </p:nvSpPr>
        <p:spPr>
          <a:xfrm>
            <a:off x="8496300" y="6470650"/>
            <a:ext cx="6477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pic>
        <p:nvPicPr>
          <p:cNvPr descr="Uma imagem contendo Interface gráfica do usuário&#10;&#10;O conteúdo gerado por IA pode estar incorreto." id="170" name="Google Shape;1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39750"/>
            <a:ext cx="76200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3012" y="5040312"/>
            <a:ext cx="1171575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0787" y="5040312"/>
            <a:ext cx="16002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22625" y="5040312"/>
            <a:ext cx="2579687" cy="1408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0700" y="714375"/>
            <a:ext cx="5562600" cy="54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 txBox="1"/>
          <p:nvPr/>
        </p:nvSpPr>
        <p:spPr>
          <a:xfrm>
            <a:off x="315912" y="6408737"/>
            <a:ext cx="851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https://bondhighplus.com/blog/what-happens-in-an-internet-minute/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